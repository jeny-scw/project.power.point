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5"/>
  </p:notesMasterIdLst>
  <p:sldIdLst>
    <p:sldId id="256" r:id="rId2"/>
    <p:sldId id="257" r:id="rId3"/>
    <p:sldId id="265" r:id="rId4"/>
    <p:sldId id="258" r:id="rId5"/>
    <p:sldId id="262" r:id="rId6"/>
    <p:sldId id="264" r:id="rId7"/>
    <p:sldId id="263" r:id="rId8"/>
    <p:sldId id="259" r:id="rId9"/>
    <p:sldId id="261" r:id="rId10"/>
    <p:sldId id="260"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9E8804-9E23-4FB3-8834-C25621F29EF3}" v="31" dt="2024-12-01T08:56:25.8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uddin Rajib" userId="8f1dbe469e776e69" providerId="LiveId" clId="{F39E8804-9E23-4FB3-8834-C25621F29EF3}"/>
    <pc:docChg chg="undo custSel addSld modSld">
      <pc:chgData name="Mohiuddin Rajib" userId="8f1dbe469e776e69" providerId="LiveId" clId="{F39E8804-9E23-4FB3-8834-C25621F29EF3}" dt="2024-12-01T09:01:06.001" v="1490" actId="2711"/>
      <pc:docMkLst>
        <pc:docMk/>
      </pc:docMkLst>
      <pc:sldChg chg="addSp modSp mod modClrScheme chgLayout">
        <pc:chgData name="Mohiuddin Rajib" userId="8f1dbe469e776e69" providerId="LiveId" clId="{F39E8804-9E23-4FB3-8834-C25621F29EF3}" dt="2024-12-01T09:00:47.039" v="1489" actId="255"/>
        <pc:sldMkLst>
          <pc:docMk/>
          <pc:sldMk cId="3247397483" sldId="256"/>
        </pc:sldMkLst>
        <pc:spChg chg="mod ord">
          <ac:chgData name="Mohiuddin Rajib" userId="8f1dbe469e776e69" providerId="LiveId" clId="{F39E8804-9E23-4FB3-8834-C25621F29EF3}" dt="2024-12-01T08:57:06.685" v="1464" actId="2711"/>
          <ac:spMkLst>
            <pc:docMk/>
            <pc:sldMk cId="3247397483" sldId="256"/>
            <ac:spMk id="2" creationId="{780C61A3-4C6E-858E-0210-9C72AC7DD96C}"/>
          </ac:spMkLst>
        </pc:spChg>
        <pc:spChg chg="mod ord">
          <ac:chgData name="Mohiuddin Rajib" userId="8f1dbe469e776e69" providerId="LiveId" clId="{F39E8804-9E23-4FB3-8834-C25621F29EF3}" dt="2024-12-01T08:59:38.859" v="1479" actId="255"/>
          <ac:spMkLst>
            <pc:docMk/>
            <pc:sldMk cId="3247397483" sldId="256"/>
            <ac:spMk id="3" creationId="{559E9A15-1505-903C-FDB8-7239280F8173}"/>
          </ac:spMkLst>
        </pc:spChg>
        <pc:spChg chg="add mod ord">
          <ac:chgData name="Mohiuddin Rajib" userId="8f1dbe469e776e69" providerId="LiveId" clId="{F39E8804-9E23-4FB3-8834-C25621F29EF3}" dt="2024-12-01T09:00:47.039" v="1489" actId="255"/>
          <ac:spMkLst>
            <pc:docMk/>
            <pc:sldMk cId="3247397483" sldId="256"/>
            <ac:spMk id="4" creationId="{48FB9EB3-64FD-E313-A521-FD7BD9591ABF}"/>
          </ac:spMkLst>
        </pc:spChg>
      </pc:sldChg>
      <pc:sldChg chg="addSp delSp modSp new mod modClrScheme chgLayout">
        <pc:chgData name="Mohiuddin Rajib" userId="8f1dbe469e776e69" providerId="LiveId" clId="{F39E8804-9E23-4FB3-8834-C25621F29EF3}" dt="2024-12-01T08:06:06.638" v="724" actId="123"/>
        <pc:sldMkLst>
          <pc:docMk/>
          <pc:sldMk cId="2879581862" sldId="257"/>
        </pc:sldMkLst>
        <pc:spChg chg="del mod ord">
          <ac:chgData name="Mohiuddin Rajib" userId="8f1dbe469e776e69" providerId="LiveId" clId="{F39E8804-9E23-4FB3-8834-C25621F29EF3}" dt="2024-12-01T07:15:45.378" v="379" actId="700"/>
          <ac:spMkLst>
            <pc:docMk/>
            <pc:sldMk cId="2879581862" sldId="257"/>
            <ac:spMk id="2" creationId="{D22C1D58-C961-51F9-677B-E73967558880}"/>
          </ac:spMkLst>
        </pc:spChg>
        <pc:spChg chg="del mod ord">
          <ac:chgData name="Mohiuddin Rajib" userId="8f1dbe469e776e69" providerId="LiveId" clId="{F39E8804-9E23-4FB3-8834-C25621F29EF3}" dt="2024-12-01T07:15:45.378" v="379" actId="700"/>
          <ac:spMkLst>
            <pc:docMk/>
            <pc:sldMk cId="2879581862" sldId="257"/>
            <ac:spMk id="3" creationId="{00D41125-AFAE-838D-0BF5-03BB006D043F}"/>
          </ac:spMkLst>
        </pc:spChg>
        <pc:spChg chg="del">
          <ac:chgData name="Mohiuddin Rajib" userId="8f1dbe469e776e69" providerId="LiveId" clId="{F39E8804-9E23-4FB3-8834-C25621F29EF3}" dt="2024-12-01T07:15:45.378" v="379" actId="700"/>
          <ac:spMkLst>
            <pc:docMk/>
            <pc:sldMk cId="2879581862" sldId="257"/>
            <ac:spMk id="4" creationId="{1B770714-6BCA-D2BD-9914-C8A8497ADFE2}"/>
          </ac:spMkLst>
        </pc:spChg>
        <pc:spChg chg="add mod ord">
          <ac:chgData name="Mohiuddin Rajib" userId="8f1dbe469e776e69" providerId="LiveId" clId="{F39E8804-9E23-4FB3-8834-C25621F29EF3}" dt="2024-12-01T07:41:38.407" v="418" actId="700"/>
          <ac:spMkLst>
            <pc:docMk/>
            <pc:sldMk cId="2879581862" sldId="257"/>
            <ac:spMk id="5" creationId="{0B164092-74F4-1CA8-0A8B-B9A9A71F3984}"/>
          </ac:spMkLst>
        </pc:spChg>
        <pc:spChg chg="add mod ord">
          <ac:chgData name="Mohiuddin Rajib" userId="8f1dbe469e776e69" providerId="LiveId" clId="{F39E8804-9E23-4FB3-8834-C25621F29EF3}" dt="2024-12-01T08:06:06.638" v="724" actId="123"/>
          <ac:spMkLst>
            <pc:docMk/>
            <pc:sldMk cId="2879581862" sldId="257"/>
            <ac:spMk id="6" creationId="{B45B9D4D-822F-FC81-64E0-2D05B580998A}"/>
          </ac:spMkLst>
        </pc:spChg>
        <pc:spChg chg="add del mod ord">
          <ac:chgData name="Mohiuddin Rajib" userId="8f1dbe469e776e69" providerId="LiveId" clId="{F39E8804-9E23-4FB3-8834-C25621F29EF3}" dt="2024-12-01T07:41:44.282" v="419"/>
          <ac:spMkLst>
            <pc:docMk/>
            <pc:sldMk cId="2879581862" sldId="257"/>
            <ac:spMk id="7" creationId="{6A34F5FC-1591-5964-4755-8858A118D9AF}"/>
          </ac:spMkLst>
        </pc:spChg>
        <pc:spChg chg="add del mod">
          <ac:chgData name="Mohiuddin Rajib" userId="8f1dbe469e776e69" providerId="LiveId" clId="{F39E8804-9E23-4FB3-8834-C25621F29EF3}" dt="2024-12-01T07:52:14.166" v="518" actId="478"/>
          <ac:spMkLst>
            <pc:docMk/>
            <pc:sldMk cId="2879581862" sldId="257"/>
            <ac:spMk id="8" creationId="{12D66B99-E971-A231-5A19-4B5CFBE4B374}"/>
          </ac:spMkLst>
        </pc:spChg>
        <pc:picChg chg="add del mod">
          <ac:chgData name="Mohiuddin Rajib" userId="8f1dbe469e776e69" providerId="LiveId" clId="{F39E8804-9E23-4FB3-8834-C25621F29EF3}" dt="2024-12-01T07:52:03.007" v="516" actId="478"/>
          <ac:picMkLst>
            <pc:docMk/>
            <pc:sldMk cId="2879581862" sldId="257"/>
            <ac:picMk id="1026" creationId="{27C4660B-4D38-7905-2799-9119550F687B}"/>
          </ac:picMkLst>
        </pc:picChg>
      </pc:sldChg>
      <pc:sldChg chg="addSp delSp modSp new mod modClrScheme chgLayout">
        <pc:chgData name="Mohiuddin Rajib" userId="8f1dbe469e776e69" providerId="LiveId" clId="{F39E8804-9E23-4FB3-8834-C25621F29EF3}" dt="2024-12-01T08:10:37.962" v="739" actId="20577"/>
        <pc:sldMkLst>
          <pc:docMk/>
          <pc:sldMk cId="3324390484" sldId="258"/>
        </pc:sldMkLst>
        <pc:spChg chg="del mod ord">
          <ac:chgData name="Mohiuddin Rajib" userId="8f1dbe469e776e69" providerId="LiveId" clId="{F39E8804-9E23-4FB3-8834-C25621F29EF3}" dt="2024-12-01T07:15:52.417" v="380" actId="700"/>
          <ac:spMkLst>
            <pc:docMk/>
            <pc:sldMk cId="3324390484" sldId="258"/>
            <ac:spMk id="2" creationId="{50498BE8-D2B3-0CB4-82C5-142B56D100AC}"/>
          </ac:spMkLst>
        </pc:spChg>
        <pc:spChg chg="del mod ord">
          <ac:chgData name="Mohiuddin Rajib" userId="8f1dbe469e776e69" providerId="LiveId" clId="{F39E8804-9E23-4FB3-8834-C25621F29EF3}" dt="2024-12-01T07:15:52.417" v="380" actId="700"/>
          <ac:spMkLst>
            <pc:docMk/>
            <pc:sldMk cId="3324390484" sldId="258"/>
            <ac:spMk id="3" creationId="{2AA74415-2D03-0DFC-AC08-49ADF84F05A2}"/>
          </ac:spMkLst>
        </pc:spChg>
        <pc:spChg chg="del">
          <ac:chgData name="Mohiuddin Rajib" userId="8f1dbe469e776e69" providerId="LiveId" clId="{F39E8804-9E23-4FB3-8834-C25621F29EF3}" dt="2024-12-01T07:15:52.417" v="380" actId="700"/>
          <ac:spMkLst>
            <pc:docMk/>
            <pc:sldMk cId="3324390484" sldId="258"/>
            <ac:spMk id="4" creationId="{7A3277B9-62E9-4D8F-23A8-C963014A35D7}"/>
          </ac:spMkLst>
        </pc:spChg>
        <pc:spChg chg="add mod ord">
          <ac:chgData name="Mohiuddin Rajib" userId="8f1dbe469e776e69" providerId="LiveId" clId="{F39E8804-9E23-4FB3-8834-C25621F29EF3}" dt="2024-12-01T08:05:37.765" v="720" actId="2711"/>
          <ac:spMkLst>
            <pc:docMk/>
            <pc:sldMk cId="3324390484" sldId="258"/>
            <ac:spMk id="5" creationId="{1155E2D2-E6A7-B365-9E8A-7CE40DF087D4}"/>
          </ac:spMkLst>
        </pc:spChg>
        <pc:spChg chg="add del mod ord">
          <ac:chgData name="Mohiuddin Rajib" userId="8f1dbe469e776e69" providerId="LiveId" clId="{F39E8804-9E23-4FB3-8834-C25621F29EF3}" dt="2024-12-01T07:51:56.926" v="515"/>
          <ac:spMkLst>
            <pc:docMk/>
            <pc:sldMk cId="3324390484" sldId="258"/>
            <ac:spMk id="6" creationId="{8B52B9D2-C788-1A8F-89D3-0356F4A85D84}"/>
          </ac:spMkLst>
        </pc:spChg>
        <pc:spChg chg="add mod">
          <ac:chgData name="Mohiuddin Rajib" userId="8f1dbe469e776e69" providerId="LiveId" clId="{F39E8804-9E23-4FB3-8834-C25621F29EF3}" dt="2024-12-01T08:10:37.962" v="739" actId="20577"/>
          <ac:spMkLst>
            <pc:docMk/>
            <pc:sldMk cId="3324390484" sldId="258"/>
            <ac:spMk id="8" creationId="{EDBCCF68-88D1-D489-40A1-9EAFA814EAE0}"/>
          </ac:spMkLst>
        </pc:spChg>
        <pc:picChg chg="add del mod">
          <ac:chgData name="Mohiuddin Rajib" userId="8f1dbe469e776e69" providerId="LiveId" clId="{F39E8804-9E23-4FB3-8834-C25621F29EF3}" dt="2024-12-01T08:05:06.796" v="698" actId="478"/>
          <ac:picMkLst>
            <pc:docMk/>
            <pc:sldMk cId="3324390484" sldId="258"/>
            <ac:picMk id="7" creationId="{080480E3-648C-5D11-876D-8EACE0993AD1}"/>
          </ac:picMkLst>
        </pc:picChg>
      </pc:sldChg>
      <pc:sldChg chg="addSp delSp modSp new mod modClrScheme chgLayout">
        <pc:chgData name="Mohiuddin Rajib" userId="8f1dbe469e776e69" providerId="LiveId" clId="{F39E8804-9E23-4FB3-8834-C25621F29EF3}" dt="2024-12-01T08:28:59.964" v="1034" actId="20577"/>
        <pc:sldMkLst>
          <pc:docMk/>
          <pc:sldMk cId="4078479396" sldId="259"/>
        </pc:sldMkLst>
        <pc:spChg chg="del mod ord">
          <ac:chgData name="Mohiuddin Rajib" userId="8f1dbe469e776e69" providerId="LiveId" clId="{F39E8804-9E23-4FB3-8834-C25621F29EF3}" dt="2024-12-01T07:15:59.328" v="381" actId="700"/>
          <ac:spMkLst>
            <pc:docMk/>
            <pc:sldMk cId="4078479396" sldId="259"/>
            <ac:spMk id="2" creationId="{4EF41C27-D19D-F4F7-0382-F899683D9134}"/>
          </ac:spMkLst>
        </pc:spChg>
        <pc:spChg chg="del mod ord">
          <ac:chgData name="Mohiuddin Rajib" userId="8f1dbe469e776e69" providerId="LiveId" clId="{F39E8804-9E23-4FB3-8834-C25621F29EF3}" dt="2024-12-01T07:15:59.328" v="381" actId="700"/>
          <ac:spMkLst>
            <pc:docMk/>
            <pc:sldMk cId="4078479396" sldId="259"/>
            <ac:spMk id="3" creationId="{9B8E661D-F2DE-6559-8549-1BE87D6B900B}"/>
          </ac:spMkLst>
        </pc:spChg>
        <pc:spChg chg="del">
          <ac:chgData name="Mohiuddin Rajib" userId="8f1dbe469e776e69" providerId="LiveId" clId="{F39E8804-9E23-4FB3-8834-C25621F29EF3}" dt="2024-12-01T07:15:59.328" v="381" actId="700"/>
          <ac:spMkLst>
            <pc:docMk/>
            <pc:sldMk cId="4078479396" sldId="259"/>
            <ac:spMk id="4" creationId="{8EC86B2F-760D-57E8-C2E7-F010658D4DAE}"/>
          </ac:spMkLst>
        </pc:spChg>
        <pc:spChg chg="add mod ord">
          <ac:chgData name="Mohiuddin Rajib" userId="8f1dbe469e776e69" providerId="LiveId" clId="{F39E8804-9E23-4FB3-8834-C25621F29EF3}" dt="2024-12-01T08:24:39.940" v="849" actId="14100"/>
          <ac:spMkLst>
            <pc:docMk/>
            <pc:sldMk cId="4078479396" sldId="259"/>
            <ac:spMk id="5" creationId="{973BA72C-FA2A-AB76-B3B7-AAE3A39DAD05}"/>
          </ac:spMkLst>
        </pc:spChg>
        <pc:spChg chg="add mod ord">
          <ac:chgData name="Mohiuddin Rajib" userId="8f1dbe469e776e69" providerId="LiveId" clId="{F39E8804-9E23-4FB3-8834-C25621F29EF3}" dt="2024-12-01T08:28:59.964" v="1034" actId="20577"/>
          <ac:spMkLst>
            <pc:docMk/>
            <pc:sldMk cId="4078479396" sldId="259"/>
            <ac:spMk id="6" creationId="{26E9A3B0-26A1-173A-6E79-D505B59B3391}"/>
          </ac:spMkLst>
        </pc:spChg>
      </pc:sldChg>
      <pc:sldChg chg="modSp add mod">
        <pc:chgData name="Mohiuddin Rajib" userId="8f1dbe469e776e69" providerId="LiveId" clId="{F39E8804-9E23-4FB3-8834-C25621F29EF3}" dt="2024-12-01T08:39:24.206" v="1182" actId="20577"/>
        <pc:sldMkLst>
          <pc:docMk/>
          <pc:sldMk cId="3011909292" sldId="260"/>
        </pc:sldMkLst>
        <pc:spChg chg="mod">
          <ac:chgData name="Mohiuddin Rajib" userId="8f1dbe469e776e69" providerId="LiveId" clId="{F39E8804-9E23-4FB3-8834-C25621F29EF3}" dt="2024-12-01T08:36:36.568" v="1142" actId="2711"/>
          <ac:spMkLst>
            <pc:docMk/>
            <pc:sldMk cId="3011909292" sldId="260"/>
            <ac:spMk id="5" creationId="{973BA72C-FA2A-AB76-B3B7-AAE3A39DAD05}"/>
          </ac:spMkLst>
        </pc:spChg>
        <pc:spChg chg="mod">
          <ac:chgData name="Mohiuddin Rajib" userId="8f1dbe469e776e69" providerId="LiveId" clId="{F39E8804-9E23-4FB3-8834-C25621F29EF3}" dt="2024-12-01T08:39:24.206" v="1182" actId="20577"/>
          <ac:spMkLst>
            <pc:docMk/>
            <pc:sldMk cId="3011909292" sldId="260"/>
            <ac:spMk id="6" creationId="{26E9A3B0-26A1-173A-6E79-D505B59B3391}"/>
          </ac:spMkLst>
        </pc:spChg>
      </pc:sldChg>
      <pc:sldChg chg="modSp add mod">
        <pc:chgData name="Mohiuddin Rajib" userId="8f1dbe469e776e69" providerId="LiveId" clId="{F39E8804-9E23-4FB3-8834-C25621F29EF3}" dt="2024-12-01T08:35:27.502" v="1117" actId="33524"/>
        <pc:sldMkLst>
          <pc:docMk/>
          <pc:sldMk cId="362663559" sldId="261"/>
        </pc:sldMkLst>
        <pc:spChg chg="mod">
          <ac:chgData name="Mohiuddin Rajib" userId="8f1dbe469e776e69" providerId="LiveId" clId="{F39E8804-9E23-4FB3-8834-C25621F29EF3}" dt="2024-12-01T08:35:04.458" v="1116" actId="113"/>
          <ac:spMkLst>
            <pc:docMk/>
            <pc:sldMk cId="362663559" sldId="261"/>
            <ac:spMk id="5" creationId="{973BA72C-FA2A-AB76-B3B7-AAE3A39DAD05}"/>
          </ac:spMkLst>
        </pc:spChg>
        <pc:spChg chg="mod">
          <ac:chgData name="Mohiuddin Rajib" userId="8f1dbe469e776e69" providerId="LiveId" clId="{F39E8804-9E23-4FB3-8834-C25621F29EF3}" dt="2024-12-01T08:35:27.502" v="1117" actId="33524"/>
          <ac:spMkLst>
            <pc:docMk/>
            <pc:sldMk cId="362663559" sldId="261"/>
            <ac:spMk id="6" creationId="{26E9A3B0-26A1-173A-6E79-D505B59B3391}"/>
          </ac:spMkLst>
        </pc:spChg>
      </pc:sldChg>
      <pc:sldChg chg="modSp add mod">
        <pc:chgData name="Mohiuddin Rajib" userId="8f1dbe469e776e69" providerId="LiveId" clId="{F39E8804-9E23-4FB3-8834-C25621F29EF3}" dt="2024-12-01T08:15:04.768" v="770" actId="14100"/>
        <pc:sldMkLst>
          <pc:docMk/>
          <pc:sldMk cId="3869215506" sldId="262"/>
        </pc:sldMkLst>
        <pc:spChg chg="mod">
          <ac:chgData name="Mohiuddin Rajib" userId="8f1dbe469e776e69" providerId="LiveId" clId="{F39E8804-9E23-4FB3-8834-C25621F29EF3}" dt="2024-12-01T08:14:22.539" v="760" actId="1076"/>
          <ac:spMkLst>
            <pc:docMk/>
            <pc:sldMk cId="3869215506" sldId="262"/>
            <ac:spMk id="5" creationId="{1155E2D2-E6A7-B365-9E8A-7CE40DF087D4}"/>
          </ac:spMkLst>
        </pc:spChg>
        <pc:spChg chg="mod">
          <ac:chgData name="Mohiuddin Rajib" userId="8f1dbe469e776e69" providerId="LiveId" clId="{F39E8804-9E23-4FB3-8834-C25621F29EF3}" dt="2024-12-01T08:15:04.768" v="770" actId="14100"/>
          <ac:spMkLst>
            <pc:docMk/>
            <pc:sldMk cId="3869215506" sldId="262"/>
            <ac:spMk id="6" creationId="{8B52B9D2-C788-1A8F-89D3-0356F4A85D84}"/>
          </ac:spMkLst>
        </pc:spChg>
      </pc:sldChg>
      <pc:sldChg chg="modSp add mod">
        <pc:chgData name="Mohiuddin Rajib" userId="8f1dbe469e776e69" providerId="LiveId" clId="{F39E8804-9E23-4FB3-8834-C25621F29EF3}" dt="2024-12-01T08:23:02.756" v="844" actId="14100"/>
        <pc:sldMkLst>
          <pc:docMk/>
          <pc:sldMk cId="3817023118" sldId="263"/>
        </pc:sldMkLst>
        <pc:spChg chg="mod">
          <ac:chgData name="Mohiuddin Rajib" userId="8f1dbe469e776e69" providerId="LiveId" clId="{F39E8804-9E23-4FB3-8834-C25621F29EF3}" dt="2024-12-01T08:21:54.570" v="830" actId="14100"/>
          <ac:spMkLst>
            <pc:docMk/>
            <pc:sldMk cId="3817023118" sldId="263"/>
            <ac:spMk id="5" creationId="{1155E2D2-E6A7-B365-9E8A-7CE40DF087D4}"/>
          </ac:spMkLst>
        </pc:spChg>
        <pc:spChg chg="mod">
          <ac:chgData name="Mohiuddin Rajib" userId="8f1dbe469e776e69" providerId="LiveId" clId="{F39E8804-9E23-4FB3-8834-C25621F29EF3}" dt="2024-12-01T08:23:02.756" v="844" actId="14100"/>
          <ac:spMkLst>
            <pc:docMk/>
            <pc:sldMk cId="3817023118" sldId="263"/>
            <ac:spMk id="6" creationId="{8B52B9D2-C788-1A8F-89D3-0356F4A85D84}"/>
          </ac:spMkLst>
        </pc:spChg>
      </pc:sldChg>
      <pc:sldChg chg="modSp add mod">
        <pc:chgData name="Mohiuddin Rajib" userId="8f1dbe469e776e69" providerId="LiveId" clId="{F39E8804-9E23-4FB3-8834-C25621F29EF3}" dt="2024-12-01T08:20:45.770" v="819" actId="27636"/>
        <pc:sldMkLst>
          <pc:docMk/>
          <pc:sldMk cId="1115826518" sldId="264"/>
        </pc:sldMkLst>
        <pc:spChg chg="mod">
          <ac:chgData name="Mohiuddin Rajib" userId="8f1dbe469e776e69" providerId="LiveId" clId="{F39E8804-9E23-4FB3-8834-C25621F29EF3}" dt="2024-12-01T08:17:00.218" v="782" actId="14100"/>
          <ac:spMkLst>
            <pc:docMk/>
            <pc:sldMk cId="1115826518" sldId="264"/>
            <ac:spMk id="5" creationId="{1155E2D2-E6A7-B365-9E8A-7CE40DF087D4}"/>
          </ac:spMkLst>
        </pc:spChg>
        <pc:spChg chg="mod">
          <ac:chgData name="Mohiuddin Rajib" userId="8f1dbe469e776e69" providerId="LiveId" clId="{F39E8804-9E23-4FB3-8834-C25621F29EF3}" dt="2024-12-01T08:20:45.770" v="819" actId="27636"/>
          <ac:spMkLst>
            <pc:docMk/>
            <pc:sldMk cId="1115826518" sldId="264"/>
            <ac:spMk id="6" creationId="{8B52B9D2-C788-1A8F-89D3-0356F4A85D84}"/>
          </ac:spMkLst>
        </pc:spChg>
      </pc:sldChg>
      <pc:sldChg chg="modSp add mod">
        <pc:chgData name="Mohiuddin Rajib" userId="8f1dbe469e776e69" providerId="LiveId" clId="{F39E8804-9E23-4FB3-8834-C25621F29EF3}" dt="2024-12-01T09:01:06.001" v="1490" actId="2711"/>
        <pc:sldMkLst>
          <pc:docMk/>
          <pc:sldMk cId="1700797386" sldId="265"/>
        </pc:sldMkLst>
        <pc:spChg chg="mod">
          <ac:chgData name="Mohiuddin Rajib" userId="8f1dbe469e776e69" providerId="LiveId" clId="{F39E8804-9E23-4FB3-8834-C25621F29EF3}" dt="2024-12-01T07:57:42.542" v="554" actId="20577"/>
          <ac:spMkLst>
            <pc:docMk/>
            <pc:sldMk cId="1700797386" sldId="265"/>
            <ac:spMk id="5" creationId="{0B164092-74F4-1CA8-0A8B-B9A9A71F3984}"/>
          </ac:spMkLst>
        </pc:spChg>
        <pc:spChg chg="mod">
          <ac:chgData name="Mohiuddin Rajib" userId="8f1dbe469e776e69" providerId="LiveId" clId="{F39E8804-9E23-4FB3-8834-C25621F29EF3}" dt="2024-12-01T09:01:06.001" v="1490" actId="2711"/>
          <ac:spMkLst>
            <pc:docMk/>
            <pc:sldMk cId="1700797386" sldId="265"/>
            <ac:spMk id="6" creationId="{B45B9D4D-822F-FC81-64E0-2D05B580998A}"/>
          </ac:spMkLst>
        </pc:spChg>
      </pc:sldChg>
      <pc:sldChg chg="modSp new mod">
        <pc:chgData name="Mohiuddin Rajib" userId="8f1dbe469e776e69" providerId="LiveId" clId="{F39E8804-9E23-4FB3-8834-C25621F29EF3}" dt="2024-12-01T08:45:59.636" v="1445" actId="255"/>
        <pc:sldMkLst>
          <pc:docMk/>
          <pc:sldMk cId="786258664" sldId="266"/>
        </pc:sldMkLst>
        <pc:spChg chg="mod">
          <ac:chgData name="Mohiuddin Rajib" userId="8f1dbe469e776e69" providerId="LiveId" clId="{F39E8804-9E23-4FB3-8834-C25621F29EF3}" dt="2024-12-01T08:40:38.016" v="1190" actId="1076"/>
          <ac:spMkLst>
            <pc:docMk/>
            <pc:sldMk cId="786258664" sldId="266"/>
            <ac:spMk id="2" creationId="{84E98387-1FED-6C11-3A19-09C1A3160D46}"/>
          </ac:spMkLst>
        </pc:spChg>
        <pc:spChg chg="mod">
          <ac:chgData name="Mohiuddin Rajib" userId="8f1dbe469e776e69" providerId="LiveId" clId="{F39E8804-9E23-4FB3-8834-C25621F29EF3}" dt="2024-12-01T08:45:59.636" v="1445" actId="255"/>
          <ac:spMkLst>
            <pc:docMk/>
            <pc:sldMk cId="786258664" sldId="266"/>
            <ac:spMk id="3" creationId="{CD327B78-EEE2-7F53-EE4C-8BAFB6E06386}"/>
          </ac:spMkLst>
        </pc:spChg>
      </pc:sldChg>
      <pc:sldChg chg="addSp delSp modSp new mod">
        <pc:chgData name="Mohiuddin Rajib" userId="8f1dbe469e776e69" providerId="LiveId" clId="{F39E8804-9E23-4FB3-8834-C25621F29EF3}" dt="2024-12-01T08:56:34.598" v="1463" actId="478"/>
        <pc:sldMkLst>
          <pc:docMk/>
          <pc:sldMk cId="2273051392" sldId="267"/>
        </pc:sldMkLst>
        <pc:spChg chg="del">
          <ac:chgData name="Mohiuddin Rajib" userId="8f1dbe469e776e69" providerId="LiveId" clId="{F39E8804-9E23-4FB3-8834-C25621F29EF3}" dt="2024-12-01T08:48:18.842" v="1448" actId="478"/>
          <ac:spMkLst>
            <pc:docMk/>
            <pc:sldMk cId="2273051392" sldId="267"/>
            <ac:spMk id="2" creationId="{9163329C-09E8-9A08-772D-35D8EBA2C509}"/>
          </ac:spMkLst>
        </pc:spChg>
        <pc:spChg chg="del">
          <ac:chgData name="Mohiuddin Rajib" userId="8f1dbe469e776e69" providerId="LiveId" clId="{F39E8804-9E23-4FB3-8834-C25621F29EF3}" dt="2024-12-01T08:48:12.283" v="1447"/>
          <ac:spMkLst>
            <pc:docMk/>
            <pc:sldMk cId="2273051392" sldId="267"/>
            <ac:spMk id="3" creationId="{DD6C09C0-D599-5D44-EE10-31DC61E3BF55}"/>
          </ac:spMkLst>
        </pc:spChg>
        <pc:spChg chg="add del mod">
          <ac:chgData name="Mohiuddin Rajib" userId="8f1dbe469e776e69" providerId="LiveId" clId="{F39E8804-9E23-4FB3-8834-C25621F29EF3}" dt="2024-12-01T08:48:50.266" v="1453"/>
          <ac:spMkLst>
            <pc:docMk/>
            <pc:sldMk cId="2273051392" sldId="267"/>
            <ac:spMk id="4" creationId="{ADE1271F-2052-E5CC-AC66-09BF60F4357F}"/>
          </ac:spMkLst>
        </pc:spChg>
        <pc:spChg chg="add del mod">
          <ac:chgData name="Mohiuddin Rajib" userId="8f1dbe469e776e69" providerId="LiveId" clId="{F39E8804-9E23-4FB3-8834-C25621F29EF3}" dt="2024-12-01T08:56:34.598" v="1463" actId="478"/>
          <ac:spMkLst>
            <pc:docMk/>
            <pc:sldMk cId="2273051392" sldId="267"/>
            <ac:spMk id="5" creationId="{24369DBD-F9EA-E6F7-F676-A8573F446B2C}"/>
          </ac:spMkLst>
        </pc:spChg>
        <pc:picChg chg="add del mod">
          <ac:chgData name="Mohiuddin Rajib" userId="8f1dbe469e776e69" providerId="LiveId" clId="{F39E8804-9E23-4FB3-8834-C25621F29EF3}" dt="2024-12-01T08:48:47.588" v="1452" actId="478"/>
          <ac:picMkLst>
            <pc:docMk/>
            <pc:sldMk cId="2273051392" sldId="267"/>
            <ac:picMk id="2050" creationId="{8E347A8F-91FA-7597-A5B7-BF4204B079CE}"/>
          </ac:picMkLst>
        </pc:picChg>
        <pc:picChg chg="add del">
          <ac:chgData name="Mohiuddin Rajib" userId="8f1dbe469e776e69" providerId="LiveId" clId="{F39E8804-9E23-4FB3-8834-C25621F29EF3}" dt="2024-12-01T08:48:47.588" v="1452" actId="478"/>
          <ac:picMkLst>
            <pc:docMk/>
            <pc:sldMk cId="2273051392" sldId="267"/>
            <ac:picMk id="2052" creationId="{8B2A891E-011C-7EEB-45E9-30499D2032F8}"/>
          </ac:picMkLst>
        </pc:picChg>
        <pc:picChg chg="add del mod">
          <ac:chgData name="Mohiuddin Rajib" userId="8f1dbe469e776e69" providerId="LiveId" clId="{F39E8804-9E23-4FB3-8834-C25621F29EF3}" dt="2024-12-01T08:56:24.159" v="1460" actId="478"/>
          <ac:picMkLst>
            <pc:docMk/>
            <pc:sldMk cId="2273051392" sldId="267"/>
            <ac:picMk id="2054" creationId="{0E64C248-79E9-D877-877A-50FB8DA5C587}"/>
          </ac:picMkLst>
        </pc:picChg>
        <pc:picChg chg="add del mod">
          <ac:chgData name="Mohiuddin Rajib" userId="8f1dbe469e776e69" providerId="LiveId" clId="{F39E8804-9E23-4FB3-8834-C25621F29EF3}" dt="2024-12-01T08:53:47.850" v="1459" actId="478"/>
          <ac:picMkLst>
            <pc:docMk/>
            <pc:sldMk cId="2273051392" sldId="267"/>
            <ac:picMk id="2056" creationId="{B1F52057-C12A-8E1F-62DE-8225489E0D64}"/>
          </ac:picMkLst>
        </pc:picChg>
        <pc:picChg chg="add">
          <ac:chgData name="Mohiuddin Rajib" userId="8f1dbe469e776e69" providerId="LiveId" clId="{F39E8804-9E23-4FB3-8834-C25621F29EF3}" dt="2024-12-01T08:56:25.894" v="1461"/>
          <ac:picMkLst>
            <pc:docMk/>
            <pc:sldMk cId="2273051392" sldId="267"/>
            <ac:picMk id="2058" creationId="{AD554816-716D-24EF-E98E-4A3FDEB4E58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37D632-2BFE-41B0-A5B0-B31D01DAF914}" type="datetimeFigureOut">
              <a:rPr lang="en-US" smtClean="0"/>
              <a:t>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38FAB1-CB12-4D35-93FE-C17662A6D8A4}" type="slidenum">
              <a:rPr lang="en-US" smtClean="0"/>
              <a:t>‹#›</a:t>
            </a:fld>
            <a:endParaRPr lang="en-US"/>
          </a:p>
        </p:txBody>
      </p:sp>
    </p:spTree>
    <p:extLst>
      <p:ext uri="{BB962C8B-B14F-4D97-AF65-F5344CB8AC3E}">
        <p14:creationId xmlns:p14="http://schemas.microsoft.com/office/powerpoint/2010/main" val="1021940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8FAB1-CB12-4D35-93FE-C17662A6D8A4}" type="slidenum">
              <a:rPr lang="en-US" smtClean="0"/>
              <a:t>1</a:t>
            </a:fld>
            <a:endParaRPr lang="en-US"/>
          </a:p>
        </p:txBody>
      </p:sp>
    </p:spTree>
    <p:extLst>
      <p:ext uri="{BB962C8B-B14F-4D97-AF65-F5344CB8AC3E}">
        <p14:creationId xmlns:p14="http://schemas.microsoft.com/office/powerpoint/2010/main" val="2403773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8FAB1-CB12-4D35-93FE-C17662A6D8A4}" type="slidenum">
              <a:rPr lang="en-US" smtClean="0"/>
              <a:t>13</a:t>
            </a:fld>
            <a:endParaRPr lang="en-US"/>
          </a:p>
        </p:txBody>
      </p:sp>
    </p:spTree>
    <p:extLst>
      <p:ext uri="{BB962C8B-B14F-4D97-AF65-F5344CB8AC3E}">
        <p14:creationId xmlns:p14="http://schemas.microsoft.com/office/powerpoint/2010/main" val="1828482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2530898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1106312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162584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CD6C8B-933A-417C-8B02-CCFC090D633E}"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3171164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CD6C8B-933A-417C-8B02-CCFC090D633E}"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337255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CD6C8B-933A-417C-8B02-CCFC090D633E}"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1515245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CD6C8B-933A-417C-8B02-CCFC090D633E}" type="datetimeFigureOut">
              <a:rPr lang="en-US" smtClean="0"/>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225835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CD6C8B-933A-417C-8B02-CCFC090D633E}"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254067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CD6C8B-933A-417C-8B02-CCFC090D633E}"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396362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CD6C8B-933A-417C-8B02-CCFC090D633E}"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1576815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803875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5518501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23127141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1603802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551656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3624875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CD6C8B-933A-417C-8B02-CCFC090D633E}"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EB095-A427-4CF5-BEDB-07127A99FA1A}" type="slidenum">
              <a:rPr lang="en-US" smtClean="0"/>
              <a:t>‹#›</a:t>
            </a:fld>
            <a:endParaRPr lang="en-US"/>
          </a:p>
        </p:txBody>
      </p:sp>
    </p:spTree>
    <p:extLst>
      <p:ext uri="{BB962C8B-B14F-4D97-AF65-F5344CB8AC3E}">
        <p14:creationId xmlns:p14="http://schemas.microsoft.com/office/powerpoint/2010/main" val="3019081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1CD6C8B-933A-417C-8B02-CCFC090D633E}" type="datetimeFigureOut">
              <a:rPr lang="en-US" smtClean="0"/>
              <a:t>12/2/2024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9EB095-A427-4CF5-BEDB-07127A99FA1A}" type="slidenum">
              <a:rPr lang="en-US" smtClean="0"/>
              <a:t>‹#›</a:t>
            </a:fld>
            <a:endParaRPr lang="en-US"/>
          </a:p>
        </p:txBody>
      </p:sp>
    </p:spTree>
    <p:extLst>
      <p:ext uri="{BB962C8B-B14F-4D97-AF65-F5344CB8AC3E}">
        <p14:creationId xmlns:p14="http://schemas.microsoft.com/office/powerpoint/2010/main" val="304347587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C61A3-4C6E-858E-0210-9C72AC7DD96C}"/>
              </a:ext>
            </a:extLst>
          </p:cNvPr>
          <p:cNvSpPr>
            <a:spLocks noGrp="1"/>
          </p:cNvSpPr>
          <p:nvPr>
            <p:ph type="title"/>
          </p:nvPr>
        </p:nvSpPr>
        <p:spPr>
          <a:xfrm>
            <a:off x="1484311" y="685800"/>
            <a:ext cx="10324231" cy="2234381"/>
          </a:xfrm>
        </p:spPr>
        <p:txBody>
          <a:bodyPr>
            <a:normAutofit/>
          </a:bodyPr>
          <a:lstStyle/>
          <a:p>
            <a:r>
              <a:rPr lang="en-US" dirty="0">
                <a:latin typeface="Times New Roman" panose="02020603050405020304" pitchFamily="18" charset="0"/>
                <a:cs typeface="Times New Roman" panose="02020603050405020304" pitchFamily="18" charset="0"/>
              </a:rPr>
              <a:t>A Study on Understanding the Roles of Women for Husband Expatriation in Rural Bangladesh </a:t>
            </a:r>
          </a:p>
        </p:txBody>
      </p:sp>
      <p:sp>
        <p:nvSpPr>
          <p:cNvPr id="3" name="Subtitle 2">
            <a:extLst>
              <a:ext uri="{FF2B5EF4-FFF2-40B4-BE49-F238E27FC236}">
                <a16:creationId xmlns:a16="http://schemas.microsoft.com/office/drawing/2014/main" id="{559E9A15-1505-903C-FDB8-7239280F8173}"/>
              </a:ext>
            </a:extLst>
          </p:cNvPr>
          <p:cNvSpPr>
            <a:spLocks noGrp="1"/>
          </p:cNvSpPr>
          <p:nvPr>
            <p:ph sz="half" idx="1"/>
          </p:nvPr>
        </p:nvSpPr>
        <p:spPr>
          <a:xfrm>
            <a:off x="1562970" y="3352800"/>
            <a:ext cx="4641060" cy="2819400"/>
          </a:xfrm>
        </p:spPr>
        <p:txBody>
          <a:bodyPr>
            <a:noAutofit/>
          </a:bodyPr>
          <a:lstStyle/>
          <a:p>
            <a:pPr marL="0" indent="0" algn="just">
              <a:buNone/>
            </a:pPr>
            <a:r>
              <a:rPr lang="en-US" sz="2000" b="1" u="sng" dirty="0">
                <a:latin typeface="Times New Roman" panose="02020603050405020304" pitchFamily="18" charset="0"/>
                <a:cs typeface="Times New Roman" panose="02020603050405020304" pitchFamily="18" charset="0"/>
              </a:rPr>
              <a:t>Supervised by:</a:t>
            </a:r>
          </a:p>
          <a:p>
            <a:pPr marL="0" indent="0" algn="just">
              <a:buNone/>
            </a:pPr>
            <a:r>
              <a:rPr lang="en-US" sz="2000" dirty="0">
                <a:latin typeface="Times New Roman" panose="02020603050405020304" pitchFamily="18" charset="0"/>
                <a:cs typeface="Times New Roman" panose="02020603050405020304" pitchFamily="18" charset="0"/>
              </a:rPr>
              <a:t>Dr. Neaz Ahmed</a:t>
            </a:r>
          </a:p>
          <a:p>
            <a:pPr marL="0" indent="0" algn="just">
              <a:buNone/>
            </a:pPr>
            <a:r>
              <a:rPr lang="en-US" sz="2000" dirty="0">
                <a:latin typeface="Times New Roman" panose="02020603050405020304" pitchFamily="18" charset="0"/>
                <a:cs typeface="Times New Roman" panose="02020603050405020304" pitchFamily="18" charset="0"/>
              </a:rPr>
              <a:t>Professor</a:t>
            </a:r>
          </a:p>
          <a:p>
            <a:pPr marL="0" indent="0" algn="just">
              <a:buNone/>
            </a:pPr>
            <a:r>
              <a:rPr lang="en-US" sz="2000" dirty="0">
                <a:latin typeface="Times New Roman" panose="02020603050405020304" pitchFamily="18" charset="0"/>
                <a:cs typeface="Times New Roman" panose="02020603050405020304" pitchFamily="18" charset="0"/>
              </a:rPr>
              <a:t>Department of Social Work</a:t>
            </a:r>
          </a:p>
          <a:p>
            <a:pPr marL="0" indent="0" algn="just">
              <a:buNone/>
            </a:pPr>
            <a:r>
              <a:rPr lang="en-US" sz="2000" dirty="0">
                <a:latin typeface="Times New Roman" panose="02020603050405020304" pitchFamily="18" charset="0"/>
                <a:cs typeface="Times New Roman" panose="02020603050405020304" pitchFamily="18" charset="0"/>
              </a:rPr>
              <a:t>Shahjalal University Of Science &amp; Technology, Sylhet</a:t>
            </a:r>
          </a:p>
        </p:txBody>
      </p:sp>
      <p:sp>
        <p:nvSpPr>
          <p:cNvPr id="4" name="Content Placeholder 3">
            <a:extLst>
              <a:ext uri="{FF2B5EF4-FFF2-40B4-BE49-F238E27FC236}">
                <a16:creationId xmlns:a16="http://schemas.microsoft.com/office/drawing/2014/main" id="{48FB9EB3-64FD-E313-A521-FD7BD9591ABF}"/>
              </a:ext>
            </a:extLst>
          </p:cNvPr>
          <p:cNvSpPr>
            <a:spLocks noGrp="1"/>
          </p:cNvSpPr>
          <p:nvPr>
            <p:ph sz="half" idx="2"/>
          </p:nvPr>
        </p:nvSpPr>
        <p:spPr>
          <a:xfrm>
            <a:off x="7423134" y="3429000"/>
            <a:ext cx="4641060" cy="2902352"/>
          </a:xfrm>
        </p:spPr>
        <p:txBody>
          <a:bodyPr>
            <a:normAutofit fontScale="32500" lnSpcReduction="20000"/>
          </a:bodyPr>
          <a:lstStyle/>
          <a:p>
            <a:pPr marL="0" indent="0">
              <a:buNone/>
            </a:pPr>
            <a:r>
              <a:rPr lang="en-US" sz="5500" b="1" u="sng" dirty="0">
                <a:latin typeface="Times New Roman" panose="02020603050405020304" pitchFamily="18" charset="0"/>
                <a:cs typeface="Times New Roman" panose="02020603050405020304" pitchFamily="18" charset="0"/>
              </a:rPr>
              <a:t>Presented by:</a:t>
            </a:r>
          </a:p>
          <a:p>
            <a:pPr marL="0" indent="0">
              <a:buNone/>
            </a:pPr>
            <a:r>
              <a:rPr lang="en-US" sz="5500" dirty="0">
                <a:latin typeface="Times New Roman" panose="02020603050405020304" pitchFamily="18" charset="0"/>
                <a:cs typeface="Times New Roman" panose="02020603050405020304" pitchFamily="18" charset="0"/>
              </a:rPr>
              <a:t>Labonno Proba Jeny</a:t>
            </a:r>
          </a:p>
          <a:p>
            <a:pPr marL="0" indent="0">
              <a:buNone/>
            </a:pPr>
            <a:r>
              <a:rPr lang="en-US" sz="5500" dirty="0">
                <a:latin typeface="Times New Roman" panose="02020603050405020304" pitchFamily="18" charset="0"/>
                <a:cs typeface="Times New Roman" panose="02020603050405020304" pitchFamily="18" charset="0"/>
              </a:rPr>
              <a:t>MSS 1</a:t>
            </a:r>
            <a:r>
              <a:rPr lang="en-US" sz="5500" baseline="30000" dirty="0">
                <a:latin typeface="Times New Roman" panose="02020603050405020304" pitchFamily="18" charset="0"/>
                <a:cs typeface="Times New Roman" panose="02020603050405020304" pitchFamily="18" charset="0"/>
              </a:rPr>
              <a:t>st</a:t>
            </a:r>
            <a:r>
              <a:rPr lang="en-US" sz="5500" dirty="0">
                <a:latin typeface="Times New Roman" panose="02020603050405020304" pitchFamily="18" charset="0"/>
                <a:cs typeface="Times New Roman" panose="02020603050405020304" pitchFamily="18" charset="0"/>
              </a:rPr>
              <a:t> Semester</a:t>
            </a:r>
          </a:p>
          <a:p>
            <a:pPr marL="0" indent="0">
              <a:buNone/>
            </a:pPr>
            <a:r>
              <a:rPr lang="en-US" sz="5500" dirty="0">
                <a:latin typeface="Times New Roman" panose="02020603050405020304" pitchFamily="18" charset="0"/>
                <a:cs typeface="Times New Roman" panose="02020603050405020304" pitchFamily="18" charset="0"/>
              </a:rPr>
              <a:t>Reg. 2022223003</a:t>
            </a:r>
          </a:p>
          <a:p>
            <a:pPr marL="0" indent="0">
              <a:buNone/>
            </a:pPr>
            <a:r>
              <a:rPr lang="en-US" sz="5500" dirty="0">
                <a:latin typeface="Times New Roman" panose="02020603050405020304" pitchFamily="18" charset="0"/>
                <a:cs typeface="Times New Roman" panose="02020603050405020304" pitchFamily="18" charset="0"/>
              </a:rPr>
              <a:t>Session: 2022-2023</a:t>
            </a:r>
          </a:p>
          <a:p>
            <a:pPr marL="0" indent="0">
              <a:buNone/>
            </a:pPr>
            <a:r>
              <a:rPr lang="en-US" sz="5500" dirty="0">
                <a:latin typeface="Times New Roman" panose="02020603050405020304" pitchFamily="18" charset="0"/>
                <a:cs typeface="Times New Roman" panose="02020603050405020304" pitchFamily="18" charset="0"/>
              </a:rPr>
              <a:t>Department of Social Work</a:t>
            </a:r>
          </a:p>
          <a:p>
            <a:pPr marL="0" indent="0">
              <a:buNone/>
            </a:pPr>
            <a:r>
              <a:rPr lang="en-US" sz="5500" dirty="0">
                <a:latin typeface="Times New Roman" panose="02020603050405020304" pitchFamily="18" charset="0"/>
                <a:cs typeface="Times New Roman" panose="02020603050405020304" pitchFamily="18" charset="0"/>
              </a:rPr>
              <a:t>Shahjalal University Of Science &amp; Technology, Sylhet</a:t>
            </a:r>
          </a:p>
          <a:p>
            <a:pPr marL="0" indent="0">
              <a:buNone/>
            </a:pPr>
            <a:endParaRPr lang="en-US" dirty="0"/>
          </a:p>
        </p:txBody>
      </p:sp>
    </p:spTree>
    <p:extLst>
      <p:ext uri="{BB962C8B-B14F-4D97-AF65-F5344CB8AC3E}">
        <p14:creationId xmlns:p14="http://schemas.microsoft.com/office/powerpoint/2010/main" val="3247397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164092-74F4-1CA8-0A8B-B9A9A71F3984}"/>
              </a:ext>
            </a:extLst>
          </p:cNvPr>
          <p:cNvSpPr>
            <a:spLocks noGrp="1"/>
          </p:cNvSpPr>
          <p:nvPr>
            <p:ph type="title"/>
          </p:nvPr>
        </p:nvSpPr>
        <p:spPr/>
        <p:txBody>
          <a:bodyPr>
            <a:normAutofit/>
          </a:bodyPr>
          <a:lstStyle/>
          <a:p>
            <a:r>
              <a:rPr lang="en-US" sz="5000" dirty="0">
                <a:latin typeface="Times New Roman" panose="02020603050405020304" pitchFamily="18" charset="0"/>
                <a:cs typeface="Times New Roman" panose="02020603050405020304" pitchFamily="18" charset="0"/>
              </a:rPr>
              <a:t>Introduction</a:t>
            </a:r>
          </a:p>
        </p:txBody>
      </p:sp>
      <p:sp>
        <p:nvSpPr>
          <p:cNvPr id="6" name="Content Placeholder 5">
            <a:extLst>
              <a:ext uri="{FF2B5EF4-FFF2-40B4-BE49-F238E27FC236}">
                <a16:creationId xmlns:a16="http://schemas.microsoft.com/office/drawing/2014/main" id="{B45B9D4D-822F-FC81-64E0-2D05B580998A}"/>
              </a:ext>
            </a:extLst>
          </p:cNvPr>
          <p:cNvSpPr>
            <a:spLocks noGrp="1"/>
          </p:cNvSpPr>
          <p:nvPr>
            <p:ph sz="half" idx="1"/>
          </p:nvPr>
        </p:nvSpPr>
        <p:spPr>
          <a:xfrm>
            <a:off x="1484311" y="2104104"/>
            <a:ext cx="10356589" cy="4447168"/>
          </a:xfrm>
        </p:spPr>
        <p:txBody>
          <a:bodyPr>
            <a:normAutofit fontScale="85000" lnSpcReduction="10000"/>
          </a:bodyPr>
          <a:lstStyle/>
          <a:p>
            <a:pPr algn="just">
              <a:spcBef>
                <a:spcPts val="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In the age of globalization, people are relocating across borders for a variety of reasons</a:t>
            </a:r>
            <a:endParaRPr lang="en-US" sz="2600" b="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 A common scenario for men to expatriate another country leaving their spouses in Bangladesh</a:t>
            </a:r>
          </a:p>
          <a:p>
            <a:pPr algn="just">
              <a:spcBef>
                <a:spcPts val="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Wives take all the responsibilities as a head of the family, managing the household and children, managing family affairs, and taking major decisions by herself.</a:t>
            </a:r>
            <a:endParaRPr lang="en-US" sz="2600" b="0" dirty="0">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n-US" sz="2600" dirty="0">
                <a:solidFill>
                  <a:srgbClr val="000000"/>
                </a:solidFill>
                <a:latin typeface="Times New Roman" panose="02020603050405020304" pitchFamily="18" charset="0"/>
                <a:cs typeface="Times New Roman" panose="02020603050405020304" pitchFamily="18" charset="0"/>
              </a:rPr>
              <a:t>M</a:t>
            </a:r>
            <a:r>
              <a:rPr lang="en-US" sz="2600" b="0" i="0" u="none" strike="noStrike" dirty="0">
                <a:solidFill>
                  <a:srgbClr val="000000"/>
                </a:solidFill>
                <a:effectLst/>
                <a:latin typeface="Times New Roman" panose="02020603050405020304" pitchFamily="18" charset="0"/>
                <a:cs typeface="Times New Roman" panose="02020603050405020304" pitchFamily="18" charset="0"/>
              </a:rPr>
              <a:t>ale expatriation mainly affects the traditional roles of women.</a:t>
            </a:r>
            <a:r>
              <a:rPr lang="en-US" sz="2600" dirty="0">
                <a:latin typeface="Times New Roman" panose="02020603050405020304" pitchFamily="18" charset="0"/>
                <a:cs typeface="Times New Roman" panose="02020603050405020304" pitchFamily="18" charset="0"/>
              </a:rPr>
              <a:t> </a:t>
            </a:r>
            <a:r>
              <a:rPr lang="en-US" sz="2600" dirty="0">
                <a:solidFill>
                  <a:srgbClr val="000000"/>
                </a:solidFill>
                <a:latin typeface="Times New Roman" panose="02020603050405020304" pitchFamily="18" charset="0"/>
                <a:cs typeface="Times New Roman" panose="02020603050405020304" pitchFamily="18" charset="0"/>
              </a:rPr>
              <a:t>It</a:t>
            </a:r>
            <a:r>
              <a:rPr lang="en-US" sz="2600" b="0" i="0" u="none" strike="noStrike" dirty="0">
                <a:solidFill>
                  <a:srgbClr val="000000"/>
                </a:solidFill>
                <a:effectLst/>
                <a:latin typeface="Times New Roman" panose="02020603050405020304" pitchFamily="18" charset="0"/>
                <a:cs typeface="Times New Roman" panose="02020603050405020304" pitchFamily="18" charset="0"/>
              </a:rPr>
              <a:t> leads women to perform dual roles in managing households, decision making which was previously managed by their husbands.</a:t>
            </a:r>
            <a:endParaRPr lang="en-US" sz="2600" b="0" dirty="0">
              <a:effectLst/>
              <a:latin typeface="Times New Roman" panose="02020603050405020304" pitchFamily="18" charset="0"/>
              <a:cs typeface="Times New Roman" panose="02020603050405020304" pitchFamily="18" charset="0"/>
            </a:endParaRPr>
          </a:p>
          <a:p>
            <a:pPr marL="0" indent="0">
              <a:buNone/>
            </a:pPr>
            <a:br>
              <a:rPr lang="en-US" sz="2800" dirty="0"/>
            </a:br>
            <a:br>
              <a:rPr lang="en-US" sz="2800" dirty="0"/>
            </a:br>
            <a:br>
              <a:rPr lang="en-US" sz="2800" dirty="0"/>
            </a:br>
            <a:endParaRPr lang="en-US" sz="2800" dirty="0"/>
          </a:p>
        </p:txBody>
      </p:sp>
    </p:spTree>
    <p:extLst>
      <p:ext uri="{BB962C8B-B14F-4D97-AF65-F5344CB8AC3E}">
        <p14:creationId xmlns:p14="http://schemas.microsoft.com/office/powerpoint/2010/main" val="2879581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164092-74F4-1CA8-0A8B-B9A9A71F398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Review</a:t>
            </a:r>
          </a:p>
        </p:txBody>
      </p:sp>
      <p:sp>
        <p:nvSpPr>
          <p:cNvPr id="6" name="Content Placeholder 5">
            <a:extLst>
              <a:ext uri="{FF2B5EF4-FFF2-40B4-BE49-F238E27FC236}">
                <a16:creationId xmlns:a16="http://schemas.microsoft.com/office/drawing/2014/main" id="{B45B9D4D-822F-FC81-64E0-2D05B580998A}"/>
              </a:ext>
            </a:extLst>
          </p:cNvPr>
          <p:cNvSpPr>
            <a:spLocks noGrp="1"/>
          </p:cNvSpPr>
          <p:nvPr>
            <p:ph idx="1"/>
          </p:nvPr>
        </p:nvSpPr>
        <p:spPr>
          <a:xfrm>
            <a:off x="1484310" y="2104103"/>
            <a:ext cx="10018713" cy="3687097"/>
          </a:xfrm>
        </p:spPr>
        <p:txBody>
          <a:bodyPr/>
          <a:lstStyle/>
          <a:p>
            <a:pPr algn="just"/>
            <a:r>
              <a:rPr lang="en-US" dirty="0">
                <a:latin typeface="Times New Roman" panose="02020603050405020304" pitchFamily="18" charset="0"/>
                <a:cs typeface="Times New Roman" panose="02020603050405020304" pitchFamily="18" charset="0"/>
              </a:rPr>
              <a:t>Uddin, (2022) designed a study on “Left behind' Women of Migrant Men Rethinking Agency and Autonomy of Women in Rural Bangladesh” It highlights impact of migration on women’s participation in decision-making and their agency and autonomy, differential position of women in </a:t>
            </a:r>
            <a:r>
              <a:rPr lang="en-US" dirty="0" err="1">
                <a:latin typeface="Times New Roman" panose="02020603050405020304" pitchFamily="18" charset="0"/>
                <a:cs typeface="Times New Roman" panose="02020603050405020304" pitchFamily="18" charset="0"/>
              </a:rPr>
              <a:t>Ekloge</a:t>
            </a:r>
            <a:r>
              <a:rPr lang="en-US" dirty="0">
                <a:latin typeface="Times New Roman" panose="02020603050405020304" pitchFamily="18" charset="0"/>
                <a:cs typeface="Times New Roman" panose="02020603050405020304" pitchFamily="18" charset="0"/>
              </a:rPr>
              <a:t> (extended) households and </a:t>
            </a:r>
            <a:r>
              <a:rPr lang="en-US" dirty="0" err="1">
                <a:latin typeface="Times New Roman" panose="02020603050405020304" pitchFamily="18" charset="0"/>
                <a:cs typeface="Times New Roman" panose="02020603050405020304" pitchFamily="18" charset="0"/>
              </a:rPr>
              <a:t>Bhinno</a:t>
            </a:r>
            <a:r>
              <a:rPr lang="en-US" dirty="0">
                <a:latin typeface="Times New Roman" panose="02020603050405020304" pitchFamily="18" charset="0"/>
                <a:cs typeface="Times New Roman" panose="02020603050405020304" pitchFamily="18" charset="0"/>
              </a:rPr>
              <a:t> (nuclear) households, sustainability of women positions when husband is returned home , modifications of patriarchal structure and cultural dynamics.</a:t>
            </a:r>
          </a:p>
        </p:txBody>
      </p:sp>
    </p:spTree>
    <p:extLst>
      <p:ext uri="{BB962C8B-B14F-4D97-AF65-F5344CB8AC3E}">
        <p14:creationId xmlns:p14="http://schemas.microsoft.com/office/powerpoint/2010/main" val="1700797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55E2D2-E6A7-B365-9E8A-7CE40DF087D4}"/>
              </a:ext>
            </a:extLst>
          </p:cNvPr>
          <p:cNvSpPr>
            <a:spLocks noGrp="1"/>
          </p:cNvSpPr>
          <p:nvPr>
            <p:ph type="title"/>
          </p:nvPr>
        </p:nvSpPr>
        <p:spPr>
          <a:xfrm>
            <a:off x="1484311" y="138897"/>
            <a:ext cx="2867769" cy="497712"/>
          </a:xfrm>
        </p:spPr>
        <p:txBody>
          <a:bodyPr>
            <a:normAutofit fontScale="90000"/>
          </a:bodyPr>
          <a:lstStyle/>
          <a:p>
            <a:r>
              <a:rPr lang="en-US" dirty="0">
                <a:latin typeface="Times New Roman" panose="02020603050405020304" pitchFamily="18" charset="0"/>
                <a:cs typeface="Times New Roman" panose="02020603050405020304" pitchFamily="18" charset="0"/>
              </a:rPr>
              <a:t>Continue…..</a:t>
            </a:r>
          </a:p>
        </p:txBody>
      </p:sp>
      <p:sp>
        <p:nvSpPr>
          <p:cNvPr id="8" name="Content Placeholder 7">
            <a:extLst>
              <a:ext uri="{FF2B5EF4-FFF2-40B4-BE49-F238E27FC236}">
                <a16:creationId xmlns:a16="http://schemas.microsoft.com/office/drawing/2014/main" id="{EDBCCF68-88D1-D489-40A1-9EAFA814EAE0}"/>
              </a:ext>
            </a:extLst>
          </p:cNvPr>
          <p:cNvSpPr>
            <a:spLocks noGrp="1"/>
          </p:cNvSpPr>
          <p:nvPr>
            <p:ph idx="1"/>
          </p:nvPr>
        </p:nvSpPr>
        <p:spPr>
          <a:xfrm>
            <a:off x="1484311" y="914400"/>
            <a:ext cx="10018712" cy="5347503"/>
          </a:xfrm>
        </p:spPr>
        <p:txBody>
          <a:bodyPr/>
          <a:lstStyle/>
          <a:p>
            <a:pPr algn="just"/>
            <a:r>
              <a:rPr lang="en-US" dirty="0">
                <a:latin typeface="Times New Roman" panose="02020603050405020304" pitchFamily="18" charset="0"/>
                <a:cs typeface="Times New Roman" panose="02020603050405020304" pitchFamily="18" charset="0"/>
              </a:rPr>
              <a:t>Fakir et. al. (2021) conducted another study on “Empowered by absence: does male out-migration empower female household heads left behind?”. to offer understanding about women's economic engagement and decision-making autonomy are enhanced by husband migration.</a:t>
            </a:r>
          </a:p>
          <a:p>
            <a:pPr algn="just"/>
            <a:r>
              <a:rPr lang="en-US" dirty="0">
                <a:latin typeface="Times New Roman" panose="02020603050405020304" pitchFamily="18" charset="0"/>
                <a:cs typeface="Times New Roman" panose="02020603050405020304" pitchFamily="18" charset="0"/>
              </a:rPr>
              <a:t>Shwe et al. (2020) conducted a study on “Husband’s international migration: Decision-making autonomy among left-behind wives in rural areas of central Myanmar” The result of their study showed that wives' autonomy is positively modified for their husbands' expatriation which depends on the household wealth and the number of children.</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390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55E2D2-E6A7-B365-9E8A-7CE40DF087D4}"/>
              </a:ext>
            </a:extLst>
          </p:cNvPr>
          <p:cNvSpPr>
            <a:spLocks noGrp="1"/>
          </p:cNvSpPr>
          <p:nvPr>
            <p:ph type="title"/>
          </p:nvPr>
        </p:nvSpPr>
        <p:spPr>
          <a:xfrm>
            <a:off x="1229669" y="188089"/>
            <a:ext cx="10018712" cy="1015678"/>
          </a:xfrm>
        </p:spPr>
        <p:txBody>
          <a:bodyPr/>
          <a:lstStyle/>
          <a:p>
            <a:r>
              <a:rPr lang="en-US" dirty="0">
                <a:latin typeface="Times New Roman" panose="02020603050405020304" pitchFamily="18" charset="0"/>
                <a:cs typeface="Times New Roman" panose="02020603050405020304" pitchFamily="18" charset="0"/>
              </a:rPr>
              <a:t>Research Gaps</a:t>
            </a:r>
          </a:p>
        </p:txBody>
      </p:sp>
      <p:sp>
        <p:nvSpPr>
          <p:cNvPr id="6" name="Content Placeholder 5">
            <a:extLst>
              <a:ext uri="{FF2B5EF4-FFF2-40B4-BE49-F238E27FC236}">
                <a16:creationId xmlns:a16="http://schemas.microsoft.com/office/drawing/2014/main" id="{8B52B9D2-C788-1A8F-89D3-0356F4A85D84}"/>
              </a:ext>
            </a:extLst>
          </p:cNvPr>
          <p:cNvSpPr>
            <a:spLocks noGrp="1"/>
          </p:cNvSpPr>
          <p:nvPr>
            <p:ph idx="1"/>
          </p:nvPr>
        </p:nvSpPr>
        <p:spPr>
          <a:xfrm>
            <a:off x="1484310" y="1203766"/>
            <a:ext cx="10018713" cy="5654233"/>
          </a:xfrm>
        </p:spPr>
        <p:txBody>
          <a:bodyPr>
            <a:normAutofit/>
          </a:bodyPr>
          <a:lstStyle/>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In the previous literature most of the studies were conducted using quantitative Or cross-sectional methods.</a:t>
            </a:r>
            <a:r>
              <a:rPr lang="en-US" sz="2200" dirty="0">
                <a:latin typeface="Times New Roman" panose="02020603050405020304" pitchFamily="18" charset="0"/>
                <a:cs typeface="Times New Roman" panose="02020603050405020304" pitchFamily="18" charset="0"/>
              </a:rPr>
              <a:t> </a:t>
            </a:r>
            <a:r>
              <a:rPr lang="en-US" sz="2200" b="0" i="0" u="none" strike="noStrike" dirty="0">
                <a:solidFill>
                  <a:srgbClr val="000000"/>
                </a:solidFill>
                <a:effectLst/>
                <a:latin typeface="Times New Roman" panose="02020603050405020304" pitchFamily="18" charset="0"/>
                <a:cs typeface="Times New Roman" panose="02020603050405020304" pitchFamily="18" charset="0"/>
              </a:rPr>
              <a:t>There have a lack of qualitative research , particularly in rural areas of Sylhet Division.</a:t>
            </a:r>
            <a:endParaRPr lang="en-US" sz="22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Almost all the reviewed studies do not offer a thorough insight of the broader socioeconomic range including healthcare, education, and income. </a:t>
            </a:r>
            <a:endParaRPr lang="en-US" sz="22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Although previous studies typically focused on autonomy and decision-making</a:t>
            </a:r>
            <a:r>
              <a:rPr lang="en-US" sz="2200" dirty="0">
                <a:solidFill>
                  <a:srgbClr val="000000"/>
                </a:solidFill>
                <a:latin typeface="Times New Roman" panose="02020603050405020304" pitchFamily="18" charset="0"/>
                <a:cs typeface="Times New Roman" panose="02020603050405020304" pitchFamily="18" charset="0"/>
              </a:rPr>
              <a:t>, family structure, </a:t>
            </a:r>
            <a:r>
              <a:rPr lang="en-US" sz="2200" b="0" i="0" u="none" strike="noStrike" dirty="0">
                <a:solidFill>
                  <a:srgbClr val="000000"/>
                </a:solidFill>
                <a:effectLst/>
                <a:latin typeface="Times New Roman" panose="02020603050405020304" pitchFamily="18" charset="0"/>
                <a:cs typeface="Times New Roman" panose="02020603050405020304" pitchFamily="18" charset="0"/>
              </a:rPr>
              <a:t>and impact of remittances, , but this research will examine more deeply into the changing roles of women, their challenges and coping mechanisms.</a:t>
            </a:r>
            <a:endParaRPr lang="en-US" sz="22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rPr>
              <a:t>C</a:t>
            </a:r>
            <a:r>
              <a:rPr lang="en-US" sz="2200" b="0" i="0" u="none" strike="noStrike" dirty="0">
                <a:solidFill>
                  <a:srgbClr val="000000"/>
                </a:solidFill>
                <a:effectLst/>
                <a:latin typeface="Times New Roman" panose="02020603050405020304" pitchFamily="18" charset="0"/>
                <a:cs typeface="Times New Roman" panose="02020603050405020304" pitchFamily="18" charset="0"/>
              </a:rPr>
              <a:t>hallenges and coping mechanisms are insufficiently discussed in existing literature, especially where coping mechanisms have not been thoroughly explored.</a:t>
            </a:r>
            <a:endParaRPr lang="en-US" sz="2200" b="0" dirty="0">
              <a:effectLst/>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86921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55E2D2-E6A7-B365-9E8A-7CE40DF087D4}"/>
              </a:ext>
            </a:extLst>
          </p:cNvPr>
          <p:cNvSpPr>
            <a:spLocks noGrp="1"/>
          </p:cNvSpPr>
          <p:nvPr>
            <p:ph type="title"/>
          </p:nvPr>
        </p:nvSpPr>
        <p:spPr>
          <a:xfrm>
            <a:off x="1484311" y="0"/>
            <a:ext cx="10018713" cy="1412111"/>
          </a:xfrm>
        </p:spPr>
        <p:txBody>
          <a:bodyPr>
            <a:normAutofit/>
          </a:bodyPr>
          <a:lstStyle/>
          <a:p>
            <a:pPr rtl="0">
              <a:spcBef>
                <a:spcPts val="0"/>
              </a:spcBef>
              <a:spcAft>
                <a:spcPts val="0"/>
              </a:spcAft>
            </a:pPr>
            <a:r>
              <a:rPr lang="en-US">
                <a:solidFill>
                  <a:srgbClr val="000000"/>
                </a:solidFill>
                <a:latin typeface="Times New Roman" panose="02020603050405020304" pitchFamily="18" charset="0"/>
                <a:cs typeface="Times New Roman" panose="02020603050405020304" pitchFamily="18" charset="0"/>
              </a:rPr>
              <a:t>O</a:t>
            </a:r>
            <a:r>
              <a:rPr lang="en-US" b="0" i="0" u="none" strike="noStrike">
                <a:solidFill>
                  <a:srgbClr val="000000"/>
                </a:solidFill>
                <a:effectLst/>
                <a:latin typeface="Times New Roman" panose="02020603050405020304" pitchFamily="18" charset="0"/>
                <a:cs typeface="Times New Roman" panose="02020603050405020304" pitchFamily="18" charset="0"/>
              </a:rPr>
              <a:t>perational Definitions</a:t>
            </a:r>
            <a:endParaRPr lang="en-US" dirty="0"/>
          </a:p>
        </p:txBody>
      </p:sp>
      <p:sp>
        <p:nvSpPr>
          <p:cNvPr id="6" name="Content Placeholder 5">
            <a:extLst>
              <a:ext uri="{FF2B5EF4-FFF2-40B4-BE49-F238E27FC236}">
                <a16:creationId xmlns:a16="http://schemas.microsoft.com/office/drawing/2014/main" id="{8B52B9D2-C788-1A8F-89D3-0356F4A85D84}"/>
              </a:ext>
            </a:extLst>
          </p:cNvPr>
          <p:cNvSpPr>
            <a:spLocks noGrp="1"/>
          </p:cNvSpPr>
          <p:nvPr>
            <p:ph idx="1"/>
          </p:nvPr>
        </p:nvSpPr>
        <p:spPr>
          <a:xfrm>
            <a:off x="1484310" y="1140542"/>
            <a:ext cx="10018713" cy="5167661"/>
          </a:xfrm>
        </p:spPr>
        <p:txBody>
          <a:bodyPr>
            <a:normAutofit fontScale="92500" lnSpcReduction="10000"/>
          </a:bodyPr>
          <a:lstStyle/>
          <a:p>
            <a:pPr rtl="0">
              <a:spcBef>
                <a:spcPts val="0"/>
              </a:spcBef>
              <a:spcAft>
                <a:spcPts val="0"/>
              </a:spcAft>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Roles of Women</a:t>
            </a:r>
            <a:endParaRPr lang="en-US" sz="2000" b="1" dirty="0">
              <a:effectLst/>
              <a:latin typeface="Times New Roman" panose="02020603050405020304" pitchFamily="18" charset="0"/>
              <a:cs typeface="Times New Roman" panose="02020603050405020304" pitchFamily="18" charset="0"/>
            </a:endParaRPr>
          </a:p>
          <a:p>
            <a:pPr marL="0" indent="0" rtl="0">
              <a:spcBef>
                <a:spcPts val="0"/>
              </a:spcBef>
              <a:spcAft>
                <a:spcPts val="0"/>
              </a:spcAft>
              <a:buNone/>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“Women's Role' refers to the societal expectations and responsibilities assigned to women, such as supporting men in positions of authority, caring for the family, and embodying altruism and self-sacrifice within a hierarchical structure defined by traditional gender norms” (International Encyclopedia of the Social &amp; Behavioral Sciences, 2001).</a:t>
            </a:r>
          </a:p>
          <a:p>
            <a:pPr marL="0" indent="0" rtl="0">
              <a:spcBef>
                <a:spcPts val="0"/>
              </a:spcBef>
              <a:spcAft>
                <a:spcPts val="0"/>
              </a:spcAft>
              <a:buNone/>
            </a:pPr>
            <a:r>
              <a:rPr lang="en-US" sz="2000" dirty="0">
                <a:latin typeface="Times New Roman" panose="02020603050405020304" pitchFamily="18" charset="0"/>
                <a:cs typeface="Times New Roman" panose="02020603050405020304" pitchFamily="18" charset="0"/>
              </a:rPr>
              <a:t>In this study , the roles of women specifically indicate the roles and responsibilities undertaken by women within the family, community or society level due to the absence of their expatriate husbands.</a:t>
            </a:r>
            <a:endParaRPr lang="en-US" sz="20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Husband Expatriation </a:t>
            </a:r>
            <a:endParaRPr lang="en-US" sz="2000" b="1" dirty="0">
              <a:effectLst/>
              <a:latin typeface="Times New Roman" panose="02020603050405020304" pitchFamily="18" charset="0"/>
              <a:cs typeface="Times New Roman" panose="02020603050405020304" pitchFamily="18" charset="0"/>
            </a:endParaRPr>
          </a:p>
          <a:p>
            <a:pPr marL="0" indent="0" rtl="0">
              <a:spcBef>
                <a:spcPts val="0"/>
              </a:spcBef>
              <a:spcAft>
                <a:spcPts val="0"/>
              </a:spcAft>
              <a:buNone/>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“Expatriation is the voluntary departure from one’s native country to another country to live there permanently or for an extended period. A person who does this can be called an expatriate” (Dictionary.com, n.d.).</a:t>
            </a:r>
          </a:p>
          <a:p>
            <a:pPr marL="0" indent="0" rtl="0">
              <a:spcBef>
                <a:spcPts val="0"/>
              </a:spcBef>
              <a:spcAft>
                <a:spcPts val="0"/>
              </a:spcAft>
              <a:buNone/>
            </a:pPr>
            <a:r>
              <a:rPr lang="en-US" sz="2000" dirty="0">
                <a:latin typeface="Times New Roman" panose="02020603050405020304" pitchFamily="18" charset="0"/>
                <a:cs typeface="Times New Roman" panose="02020603050405020304" pitchFamily="18" charset="0"/>
              </a:rPr>
              <a:t>In this study, husband expatriation indicates men moving abroad for the purpose of employment and economic opportunities without their families.</a:t>
            </a:r>
            <a:endParaRPr lang="en-US" sz="20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Rural Bangladesh </a:t>
            </a:r>
            <a:endParaRPr lang="en-US" sz="2000" b="1" dirty="0">
              <a:effectLst/>
              <a:latin typeface="Times New Roman" panose="02020603050405020304" pitchFamily="18" charset="0"/>
              <a:cs typeface="Times New Roman" panose="02020603050405020304" pitchFamily="18" charset="0"/>
            </a:endParaRPr>
          </a:p>
          <a:p>
            <a:pPr marL="0" indent="0" rtl="0">
              <a:spcBef>
                <a:spcPts val="0"/>
              </a:spcBef>
              <a:spcAft>
                <a:spcPts val="0"/>
              </a:spcAft>
              <a:buNone/>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“Rural area is an open strip of land that has few houses or other buildings and few people. The population density in rural areas is very low” (Adnan, 2023).</a:t>
            </a:r>
          </a:p>
          <a:p>
            <a:pPr marL="0" indent="0" rtl="0">
              <a:spcBef>
                <a:spcPts val="0"/>
              </a:spcBef>
              <a:spcAft>
                <a:spcPts val="0"/>
              </a:spcAft>
              <a:buNone/>
            </a:pPr>
            <a:r>
              <a:rPr lang="en-US" sz="2200" dirty="0">
                <a:latin typeface="Times New Roman" panose="02020603050405020304" pitchFamily="18" charset="0"/>
                <a:cs typeface="Times New Roman" panose="02020603050405020304" pitchFamily="18" charset="0"/>
              </a:rPr>
              <a:t>In this study, rural  Bangladesh indicate where women cannot enjoy more opportunities and facilities like urban areas due to geographical structure</a:t>
            </a:r>
          </a:p>
        </p:txBody>
      </p:sp>
    </p:spTree>
    <p:extLst>
      <p:ext uri="{BB962C8B-B14F-4D97-AF65-F5344CB8AC3E}">
        <p14:creationId xmlns:p14="http://schemas.microsoft.com/office/powerpoint/2010/main" val="1115826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55E2D2-E6A7-B365-9E8A-7CE40DF087D4}"/>
              </a:ext>
            </a:extLst>
          </p:cNvPr>
          <p:cNvSpPr>
            <a:spLocks noGrp="1"/>
          </p:cNvSpPr>
          <p:nvPr>
            <p:ph type="title"/>
          </p:nvPr>
        </p:nvSpPr>
        <p:spPr>
          <a:xfrm>
            <a:off x="1484311" y="0"/>
            <a:ext cx="10018713" cy="1597307"/>
          </a:xfrm>
        </p:spPr>
        <p:txBody>
          <a:bodyPr>
            <a:normAutofit/>
          </a:bodyPr>
          <a:lstStyle/>
          <a:p>
            <a:pPr rtl="0">
              <a:spcBef>
                <a:spcPts val="0"/>
              </a:spcBef>
              <a:spcAft>
                <a:spcPts val="0"/>
              </a:spcAft>
            </a:pPr>
            <a:r>
              <a:rPr lang="en-US" b="0" i="0" u="none" strike="noStrike" dirty="0">
                <a:solidFill>
                  <a:srgbClr val="000000"/>
                </a:solidFill>
                <a:effectLst/>
                <a:latin typeface="Times New Roman" panose="02020603050405020304" pitchFamily="18" charset="0"/>
                <a:cs typeface="Times New Roman" panose="02020603050405020304" pitchFamily="18" charset="0"/>
              </a:rPr>
              <a:t>Rationale of the study</a:t>
            </a:r>
            <a:endParaRPr lang="en-US" dirty="0"/>
          </a:p>
        </p:txBody>
      </p:sp>
      <p:sp>
        <p:nvSpPr>
          <p:cNvPr id="6" name="Content Placeholder 5">
            <a:extLst>
              <a:ext uri="{FF2B5EF4-FFF2-40B4-BE49-F238E27FC236}">
                <a16:creationId xmlns:a16="http://schemas.microsoft.com/office/drawing/2014/main" id="{8B52B9D2-C788-1A8F-89D3-0356F4A85D84}"/>
              </a:ext>
            </a:extLst>
          </p:cNvPr>
          <p:cNvSpPr>
            <a:spLocks noGrp="1"/>
          </p:cNvSpPr>
          <p:nvPr>
            <p:ph idx="1"/>
          </p:nvPr>
        </p:nvSpPr>
        <p:spPr>
          <a:xfrm>
            <a:off x="1484310" y="1516285"/>
            <a:ext cx="10018713" cy="5208606"/>
          </a:xfrm>
        </p:spPr>
        <p:txBody>
          <a:bodyPr>
            <a:noAutofit/>
          </a:bodyPr>
          <a:lstStyle/>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This study is mainly concentrated on the shifting roles of women as an aspect of male expatriation.</a:t>
            </a:r>
            <a:endParaRPr lang="en-US" sz="22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This study efforts to find out   these changes, concentrate on women's roles, their challenges, their coping mechanisms, and socioeconomic conditions in a rural context by male expatriation.</a:t>
            </a:r>
            <a:endParaRPr lang="en-US" sz="22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Being raised in a migrate-prone area, I have seen   various difficulties and struggles faced by expatriate wives.</a:t>
            </a:r>
            <a:endParaRPr lang="en-US" sz="22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 These insights encouraged me to learn more about their lives, to inform policies  supporting the well-being of expatriate families</a:t>
            </a:r>
            <a:r>
              <a:rPr lang="en-US" sz="2200" dirty="0">
                <a:solidFill>
                  <a:srgbClr val="000000"/>
                </a:solidFill>
                <a:latin typeface="Times New Roman" panose="02020603050405020304" pitchFamily="18" charset="0"/>
                <a:cs typeface="Times New Roman" panose="02020603050405020304" pitchFamily="18" charset="0"/>
              </a:rPr>
              <a:t>.</a:t>
            </a:r>
            <a:endParaRPr lang="en-US" sz="2200" b="0" i="0" u="none" strike="noStrike" dirty="0">
              <a:solidFill>
                <a:srgbClr val="000000"/>
              </a:solidFill>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200" b="0" i="0" u="none" strike="noStrike" dirty="0">
                <a:solidFill>
                  <a:srgbClr val="000000"/>
                </a:solidFill>
                <a:effectLst/>
                <a:latin typeface="Times New Roman" panose="02020603050405020304" pitchFamily="18" charset="0"/>
                <a:cs typeface="Times New Roman" panose="02020603050405020304" pitchFamily="18" charset="0"/>
              </a:rPr>
              <a:t> In </a:t>
            </a:r>
            <a:r>
              <a:rPr lang="en-US" sz="2200" b="0" i="0" u="none" strike="noStrike" dirty="0" err="1">
                <a:solidFill>
                  <a:srgbClr val="000000"/>
                </a:solidFill>
                <a:effectLst/>
                <a:latin typeface="Times New Roman" panose="02020603050405020304" pitchFamily="18" charset="0"/>
                <a:cs typeface="Times New Roman" panose="02020603050405020304" pitchFamily="18" charset="0"/>
              </a:rPr>
              <a:t>Santiganj</a:t>
            </a:r>
            <a:r>
              <a:rPr lang="en-US" sz="2200" b="0" i="0" u="none" strike="noStrike" dirty="0">
                <a:solidFill>
                  <a:srgbClr val="000000"/>
                </a:solidFill>
                <a:effectLst/>
                <a:latin typeface="Times New Roman" panose="02020603050405020304" pitchFamily="18" charset="0"/>
                <a:cs typeface="Times New Roman" panose="02020603050405020304" pitchFamily="18" charset="0"/>
              </a:rPr>
              <a:t> Upazi</a:t>
            </a:r>
            <a:r>
              <a:rPr lang="en-US" sz="2200" dirty="0">
                <a:solidFill>
                  <a:srgbClr val="000000"/>
                </a:solidFill>
                <a:latin typeface="Times New Roman" panose="02020603050405020304" pitchFamily="18" charset="0"/>
                <a:cs typeface="Times New Roman" panose="02020603050405020304" pitchFamily="18" charset="0"/>
              </a:rPr>
              <a:t>la</a:t>
            </a:r>
            <a:r>
              <a:rPr lang="en-US" sz="2200" b="0" i="0" u="none" strike="noStrike" dirty="0">
                <a:solidFill>
                  <a:srgbClr val="000000"/>
                </a:solidFill>
                <a:effectLst/>
                <a:latin typeface="Times New Roman" panose="02020603050405020304" pitchFamily="18" charset="0"/>
                <a:cs typeface="Times New Roman" panose="02020603050405020304" pitchFamily="18" charset="0"/>
              </a:rPr>
              <a:t> where a significant number of men migrate for better economic opportunities. </a:t>
            </a:r>
            <a:r>
              <a:rPr lang="en-US" sz="2200" dirty="0">
                <a:solidFill>
                  <a:srgbClr val="000000"/>
                </a:solidFill>
                <a:latin typeface="Times New Roman" panose="02020603050405020304" pitchFamily="18" charset="0"/>
                <a:cs typeface="Times New Roman" panose="02020603050405020304" pitchFamily="18" charset="0"/>
              </a:rPr>
              <a:t>But no</a:t>
            </a:r>
            <a:r>
              <a:rPr lang="en-US" sz="2200" b="0" i="0" u="none" strike="noStrike" dirty="0">
                <a:solidFill>
                  <a:srgbClr val="000000"/>
                </a:solidFill>
                <a:effectLst/>
                <a:latin typeface="Times New Roman" panose="02020603050405020304" pitchFamily="18" charset="0"/>
                <a:cs typeface="Times New Roman" panose="02020603050405020304" pitchFamily="18" charset="0"/>
              </a:rPr>
              <a:t> research conducted  on the</a:t>
            </a:r>
            <a:r>
              <a:rPr lang="en-US" sz="2200" dirty="0">
                <a:solidFill>
                  <a:srgbClr val="000000"/>
                </a:solidFill>
                <a:latin typeface="Times New Roman" panose="02020603050405020304" pitchFamily="18" charset="0"/>
                <a:cs typeface="Times New Roman" panose="02020603050405020304" pitchFamily="18" charset="0"/>
              </a:rPr>
              <a:t> roles of women for</a:t>
            </a:r>
            <a:r>
              <a:rPr lang="en-US" sz="2200" b="0" i="0" u="none" strike="noStrike" dirty="0">
                <a:solidFill>
                  <a:srgbClr val="000000"/>
                </a:solidFill>
                <a:effectLst/>
                <a:latin typeface="Times New Roman" panose="02020603050405020304" pitchFamily="18" charset="0"/>
                <a:cs typeface="Times New Roman" panose="02020603050405020304" pitchFamily="18" charset="0"/>
              </a:rPr>
              <a:t> male expatriation  in rural areas.</a:t>
            </a:r>
            <a:endParaRPr lang="en-US" sz="22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7023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3BA72C-FA2A-AB76-B3B7-AAE3A39DAD05}"/>
              </a:ext>
            </a:extLst>
          </p:cNvPr>
          <p:cNvSpPr>
            <a:spLocks noGrp="1"/>
          </p:cNvSpPr>
          <p:nvPr>
            <p:ph type="title"/>
          </p:nvPr>
        </p:nvSpPr>
        <p:spPr>
          <a:xfrm>
            <a:off x="1086643" y="1"/>
            <a:ext cx="10018713" cy="1250066"/>
          </a:xfrm>
        </p:spPr>
        <p:txBody>
          <a:bodyPr>
            <a:normAutofit/>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Objectives of the study</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6E9A3B0-26A1-173A-6E79-D505B59B3391}"/>
              </a:ext>
            </a:extLst>
          </p:cNvPr>
          <p:cNvSpPr>
            <a:spLocks noGrp="1"/>
          </p:cNvSpPr>
          <p:nvPr>
            <p:ph idx="1"/>
          </p:nvPr>
        </p:nvSpPr>
        <p:spPr>
          <a:xfrm>
            <a:off x="1484310" y="1388963"/>
            <a:ext cx="10018713" cy="4953964"/>
          </a:xfrm>
        </p:spPr>
        <p:txBody>
          <a:bodyPr/>
          <a:lstStyle/>
          <a:p>
            <a:r>
              <a:rPr lang="en-US" b="1" dirty="0">
                <a:latin typeface="Times New Roman" panose="02020603050405020304" pitchFamily="18" charset="0"/>
                <a:cs typeface="Times New Roman" panose="02020603050405020304" pitchFamily="18" charset="0"/>
              </a:rPr>
              <a:t>Broad Objectives</a:t>
            </a:r>
          </a:p>
          <a:p>
            <a:pPr marL="0" indent="0">
              <a:buNone/>
            </a:pPr>
            <a:r>
              <a:rPr lang="en-US" dirty="0">
                <a:latin typeface="Times New Roman" panose="02020603050405020304" pitchFamily="18" charset="0"/>
                <a:cs typeface="Times New Roman" panose="02020603050405020304" pitchFamily="18" charset="0"/>
              </a:rPr>
              <a:t>The broad objectives of this study is to know the roles of women for husband expatriation in rural Bangladesh</a:t>
            </a:r>
          </a:p>
          <a:p>
            <a:pPr marL="0" indent="0">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Specific Objectives</a:t>
            </a:r>
          </a:p>
          <a:p>
            <a:pPr marL="0" indent="0" rtl="0">
              <a:spcBef>
                <a:spcPts val="0"/>
              </a:spcBef>
              <a:spcAft>
                <a:spcPts val="0"/>
              </a:spcAft>
              <a:buNone/>
            </a:pPr>
            <a:r>
              <a:rPr lang="en-US" dirty="0">
                <a:latin typeface="Times New Roman" panose="02020603050405020304" pitchFamily="18" charset="0"/>
                <a:cs typeface="Times New Roman" panose="02020603050405020304" pitchFamily="18" charset="0"/>
              </a:rPr>
              <a:t>a. </a:t>
            </a:r>
            <a:r>
              <a:rPr lang="en-US" b="0" i="0" u="none" strike="noStrike" dirty="0">
                <a:solidFill>
                  <a:srgbClr val="000000"/>
                </a:solidFill>
                <a:effectLst/>
                <a:latin typeface="Times New Roman" panose="02020603050405020304" pitchFamily="18" charset="0"/>
                <a:cs typeface="Times New Roman" panose="02020603050405020304" pitchFamily="18" charset="0"/>
              </a:rPr>
              <a:t>To understand the socioeconomic status of expatriate wives</a:t>
            </a:r>
            <a:endParaRPr lang="en-US" b="0" dirty="0">
              <a:effectLst/>
              <a:latin typeface="Times New Roman" panose="02020603050405020304" pitchFamily="18" charset="0"/>
              <a:cs typeface="Times New Roman" panose="02020603050405020304" pitchFamily="18" charset="0"/>
            </a:endParaRPr>
          </a:p>
          <a:p>
            <a:pPr marL="0" indent="0" rtl="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b. To identify the roles   of women in the family   due to husband expatriation. </a:t>
            </a:r>
            <a:endParaRPr lang="en-US" b="0" dirty="0">
              <a:effectLst/>
              <a:latin typeface="Times New Roman" panose="02020603050405020304" pitchFamily="18" charset="0"/>
              <a:cs typeface="Times New Roman" panose="02020603050405020304" pitchFamily="18" charset="0"/>
            </a:endParaRPr>
          </a:p>
          <a:p>
            <a:pPr marL="0" indent="0" rtl="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c. To find out the challenges and coping mechanisms of expatriate wives. </a:t>
            </a:r>
            <a:endParaRPr lang="en-US" b="0" dirty="0">
              <a:effectLst/>
              <a:latin typeface="Times New Roman" panose="02020603050405020304" pitchFamily="18" charset="0"/>
              <a:cs typeface="Times New Roman" panose="02020603050405020304" pitchFamily="18" charset="0"/>
            </a:endParaRPr>
          </a:p>
          <a:p>
            <a:pPr marL="0" indent="0">
              <a:buNone/>
            </a:pPr>
            <a:br>
              <a:rPr lang="en-US" dirty="0"/>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479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3BA72C-FA2A-AB76-B3B7-AAE3A39DAD05}"/>
              </a:ext>
            </a:extLst>
          </p:cNvPr>
          <p:cNvSpPr>
            <a:spLocks noGrp="1"/>
          </p:cNvSpPr>
          <p:nvPr>
            <p:ph type="title"/>
          </p:nvPr>
        </p:nvSpPr>
        <p:spPr>
          <a:xfrm>
            <a:off x="1299116" y="0"/>
            <a:ext cx="10018713" cy="1261641"/>
          </a:xfrm>
        </p:spPr>
        <p:txBody>
          <a:bodyPr/>
          <a:lstStyle/>
          <a:p>
            <a:r>
              <a:rPr lang="en-US" b="1" dirty="0">
                <a:latin typeface="Times New Roman" panose="02020603050405020304" pitchFamily="18" charset="0"/>
                <a:cs typeface="Times New Roman" panose="02020603050405020304" pitchFamily="18" charset="0"/>
              </a:rPr>
              <a:t>Methodology</a:t>
            </a:r>
          </a:p>
        </p:txBody>
      </p:sp>
      <p:sp>
        <p:nvSpPr>
          <p:cNvPr id="6" name="Content Placeholder 5">
            <a:extLst>
              <a:ext uri="{FF2B5EF4-FFF2-40B4-BE49-F238E27FC236}">
                <a16:creationId xmlns:a16="http://schemas.microsoft.com/office/drawing/2014/main" id="{26E9A3B0-26A1-173A-6E79-D505B59B3391}"/>
              </a:ext>
            </a:extLst>
          </p:cNvPr>
          <p:cNvSpPr>
            <a:spLocks noGrp="1"/>
          </p:cNvSpPr>
          <p:nvPr>
            <p:ph idx="1"/>
          </p:nvPr>
        </p:nvSpPr>
        <p:spPr>
          <a:xfrm>
            <a:off x="1484310" y="1091381"/>
            <a:ext cx="10018713" cy="5459890"/>
          </a:xfrm>
        </p:spPr>
        <p:txBody>
          <a:bodyPr>
            <a:normAutofit/>
          </a:bodyPr>
          <a:lstStyle/>
          <a:p>
            <a:r>
              <a:rPr lang="en-US" sz="1800" b="0" i="0" u="none" strike="noStrike" dirty="0">
                <a:solidFill>
                  <a:srgbClr val="000000"/>
                </a:solidFill>
                <a:effectLst/>
                <a:latin typeface="Arial" panose="020B0604020202020204" pitchFamily="34" charset="0"/>
              </a:rPr>
              <a:t> </a:t>
            </a:r>
            <a:r>
              <a:rPr lang="en-US" b="1" i="0" u="none" strike="noStrike" dirty="0">
                <a:solidFill>
                  <a:srgbClr val="000000"/>
                </a:solidFill>
                <a:effectLst/>
                <a:latin typeface="Times New Roman" panose="02020603050405020304" pitchFamily="18" charset="0"/>
                <a:cs typeface="Times New Roman" panose="02020603050405020304" pitchFamily="18" charset="0"/>
              </a:rPr>
              <a:t>Approach of the Study: </a:t>
            </a:r>
          </a:p>
          <a:p>
            <a:pPr marL="0" indent="0" algn="just" rtl="0">
              <a:spcBef>
                <a:spcPts val="0"/>
              </a:spcBef>
              <a:spcAft>
                <a:spcPts val="0"/>
              </a:spcAft>
              <a:buNone/>
            </a:pPr>
            <a:r>
              <a:rPr lang="en-US" dirty="0">
                <a:solidFill>
                  <a:srgbClr val="000000"/>
                </a:solidFill>
                <a:latin typeface="Times New Roman" panose="02020603050405020304" pitchFamily="18" charset="0"/>
                <a:cs typeface="Times New Roman" panose="02020603050405020304" pitchFamily="18" charset="0"/>
              </a:rPr>
              <a:t>T</a:t>
            </a:r>
            <a:r>
              <a:rPr lang="en-US" b="0" i="0" u="none" strike="noStrike" dirty="0">
                <a:solidFill>
                  <a:srgbClr val="000000"/>
                </a:solidFill>
                <a:effectLst/>
                <a:latin typeface="Times New Roman" panose="02020603050405020304" pitchFamily="18" charset="0"/>
                <a:cs typeface="Times New Roman" panose="02020603050405020304" pitchFamily="18" charset="0"/>
              </a:rPr>
              <a:t>he qualitative research approach will be followed in this study. Qualitative research emphasizes on understanding human experiences. It is a process to understand any social Or humanistic problem in a natural setting  that depends on words, views, and pictures of participants (Creswell, 1994).</a:t>
            </a:r>
            <a:endParaRPr lang="en-US" b="0" dirty="0">
              <a:effectLst/>
              <a:latin typeface="Times New Roman" panose="02020603050405020304" pitchFamily="18" charset="0"/>
              <a:cs typeface="Times New Roman" panose="02020603050405020304" pitchFamily="18" charset="0"/>
            </a:endParaRPr>
          </a:p>
          <a:p>
            <a:pPr algn="just">
              <a:spcBef>
                <a:spcPts val="0"/>
              </a:spcBef>
              <a:spcAft>
                <a:spcPts val="0"/>
              </a:spcAft>
            </a:pPr>
            <a:r>
              <a:rPr lang="en-US" b="1" i="0" u="none" strike="noStrike" dirty="0">
                <a:solidFill>
                  <a:srgbClr val="000000"/>
                </a:solidFill>
                <a:effectLst/>
                <a:latin typeface="Times New Roman" panose="02020603050405020304" pitchFamily="18" charset="0"/>
                <a:cs typeface="Times New Roman" panose="02020603050405020304" pitchFamily="18" charset="0"/>
              </a:rPr>
              <a:t>Method of the study</a:t>
            </a:r>
            <a:endParaRPr lang="en-US" b="1" dirty="0">
              <a:solidFill>
                <a:srgbClr val="000000"/>
              </a:solidFill>
              <a:latin typeface="Times New Roman" panose="02020603050405020304" pitchFamily="18" charset="0"/>
              <a:cs typeface="Times New Roman" panose="02020603050405020304" pitchFamily="18" charset="0"/>
            </a:endParaRPr>
          </a:p>
          <a:p>
            <a:pPr marL="0" indent="0" algn="just">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As this research will be qualitative, so case study method will be applied for deep understanding about the case.</a:t>
            </a:r>
          </a:p>
          <a:p>
            <a:pPr rtl="0">
              <a:spcBef>
                <a:spcPts val="0"/>
              </a:spcBef>
              <a:spcAft>
                <a:spcPts val="0"/>
              </a:spcAft>
            </a:pPr>
            <a:r>
              <a:rPr lang="en-US" b="1" i="0" u="none" strike="noStrike" dirty="0">
                <a:solidFill>
                  <a:srgbClr val="000000"/>
                </a:solidFill>
                <a:effectLst/>
                <a:latin typeface="Times New Roman" panose="02020603050405020304" pitchFamily="18" charset="0"/>
                <a:cs typeface="Times New Roman" panose="02020603050405020304" pitchFamily="18" charset="0"/>
              </a:rPr>
              <a:t>Area of  the Study: </a:t>
            </a:r>
            <a:endParaRPr lang="en-US" b="1" dirty="0">
              <a:effectLst/>
              <a:latin typeface="Times New Roman" panose="02020603050405020304" pitchFamily="18" charset="0"/>
              <a:cs typeface="Times New Roman" panose="02020603050405020304" pitchFamily="18" charset="0"/>
            </a:endParaRPr>
          </a:p>
          <a:p>
            <a:pPr marL="0" indent="0" rtl="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The study will be conducted in rural area’s people of Sunamganj district, mainly Santiganj upazila. </a:t>
            </a:r>
            <a:endParaRPr lang="en-US"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b="0" i="0" u="none" strike="noStrike" dirty="0">
                <a:solidFill>
                  <a:srgbClr val="000000"/>
                </a:solidFill>
                <a:effectLst/>
                <a:latin typeface="Arial" panose="020B0604020202020204" pitchFamily="34" charset="0"/>
              </a:rPr>
              <a:t> </a:t>
            </a:r>
            <a:r>
              <a:rPr lang="en-US" b="1" i="0" u="none" strike="noStrike" dirty="0">
                <a:solidFill>
                  <a:srgbClr val="000000"/>
                </a:solidFill>
                <a:effectLst/>
                <a:latin typeface="Times New Roman" panose="02020603050405020304" pitchFamily="18" charset="0"/>
                <a:cs typeface="Times New Roman" panose="02020603050405020304" pitchFamily="18" charset="0"/>
              </a:rPr>
              <a:t>Population of the Study:</a:t>
            </a:r>
            <a:endParaRPr lang="en-US" b="1" dirty="0">
              <a:effectLst/>
              <a:latin typeface="Times New Roman" panose="02020603050405020304" pitchFamily="18" charset="0"/>
              <a:cs typeface="Times New Roman" panose="02020603050405020304" pitchFamily="18" charset="0"/>
            </a:endParaRPr>
          </a:p>
          <a:p>
            <a:pPr marL="0" indent="0" rtl="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To achieve the objective of the study data will be collected from the </a:t>
            </a:r>
            <a:r>
              <a:rPr lang="en-US" dirty="0">
                <a:solidFill>
                  <a:srgbClr val="000000"/>
                </a:solidFill>
                <a:latin typeface="Times New Roman" panose="02020603050405020304" pitchFamily="18" charset="0"/>
                <a:cs typeface="Times New Roman" panose="02020603050405020304" pitchFamily="18" charset="0"/>
              </a:rPr>
              <a:t>wives of expatriate men in</a:t>
            </a:r>
            <a:r>
              <a:rPr lang="en-US" b="0" i="0" u="none" strike="noStrike" dirty="0">
                <a:solidFill>
                  <a:srgbClr val="000000"/>
                </a:solidFill>
                <a:effectLst/>
                <a:latin typeface="Times New Roman" panose="02020603050405020304" pitchFamily="18" charset="0"/>
                <a:cs typeface="Times New Roman" panose="02020603050405020304" pitchFamily="18" charset="0"/>
              </a:rPr>
              <a:t> rural </a:t>
            </a:r>
            <a:r>
              <a:rPr lang="en-US" dirty="0">
                <a:solidFill>
                  <a:srgbClr val="000000"/>
                </a:solidFill>
                <a:latin typeface="Times New Roman" panose="02020603050405020304" pitchFamily="18" charset="0"/>
                <a:cs typeface="Times New Roman" panose="02020603050405020304" pitchFamily="18" charset="0"/>
              </a:rPr>
              <a:t>areas</a:t>
            </a:r>
            <a:r>
              <a:rPr lang="en-US" b="0" i="0" u="none" strike="noStrike" dirty="0">
                <a:solidFill>
                  <a:srgbClr val="000000"/>
                </a:solidFill>
                <a:effectLst/>
                <a:latin typeface="Times New Roman" panose="02020603050405020304" pitchFamily="18" charset="0"/>
                <a:cs typeface="Times New Roman" panose="02020603050405020304" pitchFamily="18" charset="0"/>
              </a:rPr>
              <a:t> whose age is between 18-50 years. </a:t>
            </a:r>
            <a:endParaRPr lang="en-US" b="0" dirty="0">
              <a:effectLst/>
              <a:latin typeface="Times New Roman" panose="02020603050405020304" pitchFamily="18" charset="0"/>
              <a:cs typeface="Times New Roman" panose="02020603050405020304" pitchFamily="18" charset="0"/>
            </a:endParaRPr>
          </a:p>
          <a:p>
            <a:pPr marL="0" indent="0">
              <a:buNone/>
            </a:pPr>
            <a:endParaRPr lang="en-US"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63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3BA72C-FA2A-AB76-B3B7-AAE3A39DAD05}"/>
              </a:ext>
            </a:extLst>
          </p:cNvPr>
          <p:cNvSpPr>
            <a:spLocks noGrp="1"/>
          </p:cNvSpPr>
          <p:nvPr>
            <p:ph type="title"/>
          </p:nvPr>
        </p:nvSpPr>
        <p:spPr>
          <a:xfrm>
            <a:off x="1484310" y="222814"/>
            <a:ext cx="2647852" cy="471668"/>
          </a:xfrm>
        </p:spPr>
        <p:txBody>
          <a:bodyPr>
            <a:normAutofit fontScale="90000"/>
          </a:bodyPr>
          <a:lstStyle/>
          <a:p>
            <a:r>
              <a:rPr lang="en-US" dirty="0">
                <a:latin typeface="Times New Roman" panose="02020603050405020304" pitchFamily="18" charset="0"/>
                <a:cs typeface="Times New Roman" panose="02020603050405020304" pitchFamily="18" charset="0"/>
              </a:rPr>
              <a:t>Continue.…</a:t>
            </a:r>
          </a:p>
        </p:txBody>
      </p:sp>
      <p:sp>
        <p:nvSpPr>
          <p:cNvPr id="6" name="Content Placeholder 5">
            <a:extLst>
              <a:ext uri="{FF2B5EF4-FFF2-40B4-BE49-F238E27FC236}">
                <a16:creationId xmlns:a16="http://schemas.microsoft.com/office/drawing/2014/main" id="{26E9A3B0-26A1-173A-6E79-D505B59B3391}"/>
              </a:ext>
            </a:extLst>
          </p:cNvPr>
          <p:cNvSpPr>
            <a:spLocks noGrp="1"/>
          </p:cNvSpPr>
          <p:nvPr>
            <p:ph idx="1"/>
          </p:nvPr>
        </p:nvSpPr>
        <p:spPr>
          <a:xfrm>
            <a:off x="1484310" y="856527"/>
            <a:ext cx="10018713" cy="5393802"/>
          </a:xfrm>
        </p:spPr>
        <p:txBody>
          <a:bodyPr/>
          <a:lstStyle/>
          <a:p>
            <a:pPr>
              <a:spcBef>
                <a:spcPts val="0"/>
              </a:spcBef>
              <a:spcAft>
                <a:spcPts val="0"/>
              </a:spcAft>
            </a:pPr>
            <a:r>
              <a:rPr lang="en-US" b="1" i="0" u="none" strike="noStrike" dirty="0">
                <a:solidFill>
                  <a:srgbClr val="000000"/>
                </a:solidFill>
                <a:effectLst/>
                <a:latin typeface="Times New Roman" panose="02020603050405020304" pitchFamily="18" charset="0"/>
                <a:cs typeface="Times New Roman" panose="02020603050405020304" pitchFamily="18" charset="0"/>
              </a:rPr>
              <a:t>Sample Size and Sampling Technique:</a:t>
            </a:r>
            <a:endParaRPr lang="en-US" b="1" dirty="0">
              <a:effectLst/>
              <a:latin typeface="Times New Roman" panose="02020603050405020304" pitchFamily="18" charset="0"/>
              <a:cs typeface="Times New Roman" panose="02020603050405020304" pitchFamily="18" charset="0"/>
            </a:endParaRPr>
          </a:p>
          <a:p>
            <a:pPr marL="0" indent="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For this research, the purposive sampling technique will be used.   Data Saturation point  will follow to end inter</a:t>
            </a:r>
            <a:r>
              <a:rPr lang="en-US" dirty="0">
                <a:solidFill>
                  <a:srgbClr val="000000"/>
                </a:solidFill>
                <a:latin typeface="Times New Roman" panose="02020603050405020304" pitchFamily="18" charset="0"/>
                <a:cs typeface="Times New Roman" panose="02020603050405020304" pitchFamily="18" charset="0"/>
              </a:rPr>
              <a:t>viewing</a:t>
            </a:r>
            <a:r>
              <a:rPr lang="en-US" b="0" i="0" u="none" strike="noStrike" dirty="0">
                <a:solidFill>
                  <a:srgbClr val="000000"/>
                </a:solidFill>
                <a:effectLst/>
                <a:latin typeface="Times New Roman" panose="02020603050405020304" pitchFamily="18" charset="0"/>
                <a:cs typeface="Times New Roman" panose="02020603050405020304" pitchFamily="18" charset="0"/>
              </a:rPr>
              <a:t> process with the participants.</a:t>
            </a:r>
            <a:endParaRPr lang="en-US" b="0" dirty="0">
              <a:effectLst/>
              <a:latin typeface="Times New Roman" panose="02020603050405020304" pitchFamily="18" charset="0"/>
              <a:cs typeface="Times New Roman" panose="02020603050405020304" pitchFamily="18" charset="0"/>
            </a:endParaRPr>
          </a:p>
          <a:p>
            <a:pPr>
              <a:spcBef>
                <a:spcPts val="0"/>
              </a:spcBef>
              <a:spcAft>
                <a:spcPts val="0"/>
              </a:spcAft>
            </a:pPr>
            <a:r>
              <a:rPr lang="en-US" b="1" i="0" u="none" strike="noStrike" dirty="0">
                <a:solidFill>
                  <a:srgbClr val="000000"/>
                </a:solidFill>
                <a:effectLst/>
                <a:latin typeface="Times New Roman" panose="02020603050405020304" pitchFamily="18" charset="0"/>
                <a:cs typeface="Times New Roman" panose="02020603050405020304" pitchFamily="18" charset="0"/>
              </a:rPr>
              <a:t>Data Collection Technique:</a:t>
            </a:r>
            <a:endParaRPr lang="en-US" b="1" dirty="0">
              <a:effectLst/>
              <a:latin typeface="Times New Roman" panose="02020603050405020304" pitchFamily="18" charset="0"/>
              <a:cs typeface="Times New Roman" panose="02020603050405020304" pitchFamily="18" charset="0"/>
            </a:endParaRPr>
          </a:p>
          <a:p>
            <a:pPr marL="0" indent="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There are two types of data collection techniques that will be used in this research like : face to face interview and observation.</a:t>
            </a:r>
            <a:endParaRPr lang="en-US" b="0" dirty="0">
              <a:effectLst/>
              <a:latin typeface="Times New Roman" panose="02020603050405020304" pitchFamily="18" charset="0"/>
              <a:cs typeface="Times New Roman" panose="02020603050405020304" pitchFamily="18" charset="0"/>
            </a:endParaRPr>
          </a:p>
          <a:p>
            <a:pPr>
              <a:spcBef>
                <a:spcPts val="0"/>
              </a:spcBef>
              <a:spcAft>
                <a:spcPts val="0"/>
              </a:spcAft>
            </a:pPr>
            <a:r>
              <a:rPr lang="en-US" b="1" i="0" u="none" strike="noStrike" dirty="0">
                <a:solidFill>
                  <a:srgbClr val="000000"/>
                </a:solidFill>
                <a:effectLst/>
                <a:latin typeface="Times New Roman" panose="02020603050405020304" pitchFamily="18" charset="0"/>
                <a:cs typeface="Times New Roman" panose="02020603050405020304" pitchFamily="18" charset="0"/>
              </a:rPr>
              <a:t>Data Collection Tool:</a:t>
            </a:r>
            <a:endParaRPr lang="en-US" b="1" dirty="0">
              <a:effectLst/>
              <a:latin typeface="Times New Roman" panose="02020603050405020304" pitchFamily="18" charset="0"/>
              <a:cs typeface="Times New Roman" panose="02020603050405020304" pitchFamily="18" charset="0"/>
            </a:endParaRPr>
          </a:p>
          <a:p>
            <a:pPr marL="0" indent="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In this research,  the interview schedule will be a data collection tool</a:t>
            </a:r>
            <a:endParaRPr lang="en-US" b="0" dirty="0">
              <a:effectLst/>
              <a:latin typeface="Times New Roman" panose="02020603050405020304" pitchFamily="18" charset="0"/>
              <a:cs typeface="Times New Roman" panose="02020603050405020304" pitchFamily="18" charset="0"/>
            </a:endParaRPr>
          </a:p>
          <a:p>
            <a:pPr>
              <a:spcBef>
                <a:spcPts val="0"/>
              </a:spcBef>
              <a:spcAft>
                <a:spcPts val="0"/>
              </a:spcAft>
            </a:pPr>
            <a:r>
              <a:rPr lang="en-US" b="1" i="0" u="none" strike="noStrike" dirty="0">
                <a:solidFill>
                  <a:srgbClr val="000000"/>
                </a:solidFill>
                <a:effectLst/>
                <a:latin typeface="Times New Roman" panose="02020603050405020304" pitchFamily="18" charset="0"/>
                <a:cs typeface="Times New Roman" panose="02020603050405020304" pitchFamily="18" charset="0"/>
              </a:rPr>
              <a:t>Data Analysis and Interpretation:</a:t>
            </a:r>
            <a:endParaRPr lang="en-US" b="1" dirty="0">
              <a:effectLst/>
              <a:latin typeface="Times New Roman" panose="02020603050405020304" pitchFamily="18" charset="0"/>
              <a:cs typeface="Times New Roman" panose="02020603050405020304" pitchFamily="18" charset="0"/>
            </a:endParaRPr>
          </a:p>
          <a:p>
            <a:pPr marL="0" indent="0">
              <a:spcBef>
                <a:spcPts val="0"/>
              </a:spcBef>
              <a:spcAft>
                <a:spcPts val="0"/>
              </a:spcAf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In this research, the researcher </a:t>
            </a:r>
            <a:r>
              <a:rPr lang="en-US" dirty="0">
                <a:solidFill>
                  <a:srgbClr val="000000"/>
                </a:solidFill>
                <a:latin typeface="Times New Roman" panose="02020603050405020304" pitchFamily="18" charset="0"/>
                <a:cs typeface="Times New Roman" panose="02020603050405020304" pitchFamily="18" charset="0"/>
              </a:rPr>
              <a:t>will </a:t>
            </a:r>
            <a:r>
              <a:rPr lang="en-US" b="0" i="0" u="none" strike="noStrike" dirty="0">
                <a:solidFill>
                  <a:srgbClr val="000000"/>
                </a:solidFill>
                <a:effectLst/>
                <a:latin typeface="Times New Roman" panose="02020603050405020304" pitchFamily="18" charset="0"/>
                <a:cs typeface="Times New Roman" panose="02020603050405020304" pitchFamily="18" charset="0"/>
              </a:rPr>
              <a:t>use thematic analysis to analyze the qualitative data</a:t>
            </a:r>
            <a:endParaRPr lang="en-US" b="0" dirty="0">
              <a:effectLst/>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011909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98387-1FED-6C11-3A19-09C1A3160D46}"/>
              </a:ext>
            </a:extLst>
          </p:cNvPr>
          <p:cNvSpPr>
            <a:spLocks noGrp="1"/>
          </p:cNvSpPr>
          <p:nvPr>
            <p:ph type="title"/>
          </p:nvPr>
        </p:nvSpPr>
        <p:spPr>
          <a:xfrm>
            <a:off x="1484310" y="0"/>
            <a:ext cx="10018713" cy="1752599"/>
          </a:xfrm>
        </p:spPr>
        <p:txBody>
          <a:bodyPr/>
          <a:lstStyle/>
          <a:p>
            <a:r>
              <a:rPr lang="en-US" sz="4000" b="0" i="0" u="none" strike="noStrike" dirty="0">
                <a:solidFill>
                  <a:srgbClr val="000000"/>
                </a:solidFill>
                <a:effectLst/>
                <a:latin typeface="Times New Roman" panose="02020603050405020304" pitchFamily="18" charset="0"/>
                <a:cs typeface="Times New Roman" panose="02020603050405020304" pitchFamily="18" charset="0"/>
              </a:rPr>
              <a:t>Ethical Considerations</a:t>
            </a:r>
            <a:endParaRPr lang="en-US" dirty="0"/>
          </a:p>
        </p:txBody>
      </p:sp>
      <p:sp>
        <p:nvSpPr>
          <p:cNvPr id="3" name="Content Placeholder 2">
            <a:extLst>
              <a:ext uri="{FF2B5EF4-FFF2-40B4-BE49-F238E27FC236}">
                <a16:creationId xmlns:a16="http://schemas.microsoft.com/office/drawing/2014/main" id="{CD327B78-EEE2-7F53-EE4C-8BAFB6E06386}"/>
              </a:ext>
            </a:extLst>
          </p:cNvPr>
          <p:cNvSpPr>
            <a:spLocks noGrp="1"/>
          </p:cNvSpPr>
          <p:nvPr>
            <p:ph idx="1"/>
          </p:nvPr>
        </p:nvSpPr>
        <p:spPr>
          <a:xfrm>
            <a:off x="1484310" y="1493134"/>
            <a:ext cx="10018713" cy="4664597"/>
          </a:xfrm>
        </p:spPr>
        <p:txBody>
          <a:bodyPr/>
          <a:lstStyle/>
          <a:p>
            <a:pPr rtl="0">
              <a:spcBef>
                <a:spcPts val="0"/>
              </a:spcBef>
              <a:spcAft>
                <a:spcPts val="0"/>
              </a:spcAft>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Verbal </a:t>
            </a:r>
            <a:r>
              <a:rPr lang="en-US" sz="2600" dirty="0">
                <a:solidFill>
                  <a:srgbClr val="000000"/>
                </a:solidFill>
                <a:latin typeface="Times New Roman" panose="02020603050405020304" pitchFamily="18" charset="0"/>
                <a:cs typeface="Times New Roman" panose="02020603050405020304" pitchFamily="18" charset="0"/>
              </a:rPr>
              <a:t>or written i</a:t>
            </a:r>
            <a:r>
              <a:rPr lang="en-US" sz="2600" b="0" i="0" u="none" strike="noStrike" dirty="0">
                <a:solidFill>
                  <a:srgbClr val="000000"/>
                </a:solidFill>
                <a:effectLst/>
                <a:latin typeface="Times New Roman" panose="02020603050405020304" pitchFamily="18" charset="0"/>
                <a:cs typeface="Times New Roman" panose="02020603050405020304" pitchFamily="18" charset="0"/>
              </a:rPr>
              <a:t>nformed consent from the participant</a:t>
            </a:r>
            <a:endParaRPr lang="en-US" sz="2600" b="0" dirty="0">
              <a:effectLst/>
              <a:latin typeface="Times New Roman" panose="02020603050405020304" pitchFamily="18" charset="0"/>
              <a:cs typeface="Times New Roman" panose="02020603050405020304" pitchFamily="18" charset="0"/>
            </a:endParaRPr>
          </a:p>
          <a:p>
            <a:pPr rtl="0">
              <a:spcBef>
                <a:spcPts val="0"/>
              </a:spcBef>
              <a:spcAft>
                <a:spcPts val="0"/>
              </a:spcAft>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Ensure privacy and confidentiality</a:t>
            </a:r>
          </a:p>
          <a:p>
            <a:pPr rtl="0">
              <a:spcBef>
                <a:spcPts val="0"/>
              </a:spcBef>
              <a:spcAft>
                <a:spcPts val="0"/>
              </a:spcAft>
            </a:pPr>
            <a:r>
              <a:rPr lang="en-US" sz="2600" dirty="0">
                <a:latin typeface="Times New Roman" panose="02020603050405020304" pitchFamily="18" charset="0"/>
                <a:cs typeface="Times New Roman" panose="02020603050405020304" pitchFamily="18" charset="0"/>
              </a:rPr>
              <a:t>Allow participant to withdraw </a:t>
            </a:r>
            <a:r>
              <a:rPr lang="en-US" sz="2600">
                <a:latin typeface="Times New Roman" panose="02020603050405020304" pitchFamily="18" charset="0"/>
                <a:cs typeface="Times New Roman" panose="02020603050405020304" pitchFamily="18" charset="0"/>
              </a:rPr>
              <a:t>from the research </a:t>
            </a:r>
            <a:r>
              <a:rPr lang="en-US" sz="2600" dirty="0">
                <a:latin typeface="Times New Roman" panose="02020603050405020304" pitchFamily="18" charset="0"/>
                <a:cs typeface="Times New Roman" panose="02020603050405020304" pitchFamily="18" charset="0"/>
              </a:rPr>
              <a:t>at any stage</a:t>
            </a:r>
          </a:p>
          <a:p>
            <a:pPr rtl="0">
              <a:spcBef>
                <a:spcPts val="0"/>
              </a:spcBef>
              <a:spcAft>
                <a:spcPts val="0"/>
              </a:spcAft>
            </a:pPr>
            <a:r>
              <a:rPr lang="en-US" sz="2600" dirty="0">
                <a:latin typeface="Times New Roman" panose="02020603050405020304" pitchFamily="18" charset="0"/>
                <a:cs typeface="Times New Roman" panose="02020603050405020304" pitchFamily="18" charset="0"/>
              </a:rPr>
              <a:t>Arrange comfortable place</a:t>
            </a:r>
          </a:p>
          <a:p>
            <a:pPr rtl="0">
              <a:spcBef>
                <a:spcPts val="0"/>
              </a:spcBef>
              <a:spcAft>
                <a:spcPts val="0"/>
              </a:spcAft>
            </a:pPr>
            <a:r>
              <a:rPr lang="en-US" sz="2600" dirty="0">
                <a:latin typeface="Times New Roman" panose="02020603050405020304" pitchFamily="18" charset="0"/>
                <a:cs typeface="Times New Roman" panose="02020603050405020304" pitchFamily="18" charset="0"/>
              </a:rPr>
              <a:t>Maintain Non-judgmental attitude</a:t>
            </a:r>
            <a:br>
              <a:rPr lang="en-US" dirty="0"/>
            </a:br>
            <a:endParaRPr lang="en-US" dirty="0"/>
          </a:p>
        </p:txBody>
      </p:sp>
    </p:spTree>
    <p:extLst>
      <p:ext uri="{BB962C8B-B14F-4D97-AF65-F5344CB8AC3E}">
        <p14:creationId xmlns:p14="http://schemas.microsoft.com/office/powerpoint/2010/main" val="786258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E5669-3DC7-9A13-47FC-4662B8075145}"/>
              </a:ext>
            </a:extLst>
          </p:cNvPr>
          <p:cNvSpPr>
            <a:spLocks noGrp="1"/>
          </p:cNvSpPr>
          <p:nvPr>
            <p:ph type="title"/>
          </p:nvPr>
        </p:nvSpPr>
        <p:spPr>
          <a:xfrm>
            <a:off x="2900516" y="685801"/>
            <a:ext cx="6341807" cy="769373"/>
          </a:xfrm>
        </p:spPr>
        <p:txBody>
          <a:bodyPr>
            <a:normAutofit/>
          </a:bodyPr>
          <a:lstStyle/>
          <a:p>
            <a:r>
              <a:rPr lang="en-US"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D70AC91-76C5-20FF-A131-4ED525D108A5}"/>
              </a:ext>
            </a:extLst>
          </p:cNvPr>
          <p:cNvSpPr>
            <a:spLocks noGrp="1"/>
          </p:cNvSpPr>
          <p:nvPr>
            <p:ph idx="1"/>
          </p:nvPr>
        </p:nvSpPr>
        <p:spPr>
          <a:xfrm>
            <a:off x="963562" y="1759975"/>
            <a:ext cx="10539462" cy="4412224"/>
          </a:xfrm>
        </p:spPr>
        <p:txBody>
          <a:bodyPr>
            <a:normAutofit fontScale="55000" lnSpcReduction="20000"/>
          </a:bodyPr>
          <a:lstStyle/>
          <a:p>
            <a:pPr marL="0" marR="0" indent="0" algn="just">
              <a:lnSpc>
                <a:spcPct val="115000"/>
              </a:lnSpc>
              <a:spcBef>
                <a:spcPts val="0"/>
              </a:spcBef>
              <a:spcAft>
                <a:spcPts val="0"/>
              </a:spcAft>
              <a:buNone/>
            </a:pPr>
            <a:r>
              <a:rPr lang="en-US" sz="2500" dirty="0">
                <a:latin typeface="Times New Roman" panose="02020603050405020304" pitchFamily="18" charset="0"/>
                <a:cs typeface="Times New Roman" panose="02020603050405020304" pitchFamily="18" charset="0"/>
              </a:rPr>
              <a:t>Ali, P. A., McGarry, J., &amp; Maqsood, A. (2022). Spousal role expectations and marital conflict: perspectives of men and women. </a:t>
            </a:r>
            <a:r>
              <a:rPr lang="en-US" sz="2500" i="1" dirty="0">
                <a:latin typeface="Times New Roman" panose="02020603050405020304" pitchFamily="18" charset="0"/>
                <a:cs typeface="Times New Roman" panose="02020603050405020304" pitchFamily="18" charset="0"/>
              </a:rPr>
              <a:t>Journal of interpersonal violence</a:t>
            </a:r>
            <a:r>
              <a:rPr lang="en-US" sz="2500" dirty="0">
                <a:latin typeface="Times New Roman" panose="02020603050405020304" pitchFamily="18" charset="0"/>
                <a:cs typeface="Times New Roman" panose="02020603050405020304" pitchFamily="18" charset="0"/>
              </a:rPr>
              <a:t>, 37(9-10), NP7082-NP7108.  </a:t>
            </a:r>
          </a:p>
          <a:p>
            <a:pPr marL="0" marR="0" indent="0" algn="just">
              <a:lnSpc>
                <a:spcPct val="115000"/>
              </a:lnSpc>
              <a:spcBef>
                <a:spcPts val="0"/>
              </a:spcBef>
              <a:spcAft>
                <a:spcPts val="0"/>
              </a:spcAft>
              <a:buNone/>
            </a:pPr>
            <a:endParaRPr lang="en-US" sz="2500" dirty="0">
              <a:latin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2500" dirty="0" err="1">
                <a:latin typeface="Times New Roman" panose="02020603050405020304" pitchFamily="18" charset="0"/>
                <a:cs typeface="Times New Roman" panose="02020603050405020304" pitchFamily="18" charset="0"/>
              </a:rPr>
              <a:t>Mojumder</a:t>
            </a:r>
            <a:r>
              <a:rPr lang="en-US" sz="2500" dirty="0">
                <a:latin typeface="Times New Roman" panose="02020603050405020304" pitchFamily="18" charset="0"/>
                <a:cs typeface="Times New Roman" panose="02020603050405020304" pitchFamily="18" charset="0"/>
              </a:rPr>
              <a:t>, M. J. H. (2019). The Effects of Remittances on Empowerment of Rural Women: An Enquiry into the Wives of Bangladeshi Expatriates. </a:t>
            </a:r>
            <a:r>
              <a:rPr lang="en-US" sz="2500" i="1" dirty="0">
                <a:latin typeface="Times New Roman" panose="02020603050405020304" pitchFamily="18" charset="0"/>
                <a:cs typeface="Times New Roman" panose="02020603050405020304" pitchFamily="18" charset="0"/>
              </a:rPr>
              <a:t>The Journal or Rural Development</a:t>
            </a:r>
            <a:r>
              <a:rPr lang="en-US" sz="2500" dirty="0">
                <a:latin typeface="Times New Roman" panose="02020603050405020304" pitchFamily="18" charset="0"/>
                <a:cs typeface="Times New Roman" panose="02020603050405020304" pitchFamily="18" charset="0"/>
              </a:rPr>
              <a:t>, 42(2), 125.</a:t>
            </a:r>
          </a:p>
          <a:p>
            <a:pPr marL="0" marR="0" indent="0" algn="just">
              <a:lnSpc>
                <a:spcPct val="115000"/>
              </a:lnSpc>
              <a:spcBef>
                <a:spcPts val="0"/>
              </a:spcBef>
              <a:spcAft>
                <a:spcPts val="0"/>
              </a:spcAft>
              <a:buNone/>
            </a:pPr>
            <a:endParaRPr lang="en-US" sz="2500" dirty="0">
              <a:latin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2500" dirty="0">
                <a:latin typeface="Times New Roman" panose="02020603050405020304" pitchFamily="18" charset="0"/>
                <a:cs typeface="Times New Roman" panose="02020603050405020304" pitchFamily="18" charset="0"/>
              </a:rPr>
              <a:t> Hussain, E., Alam, J., &amp; Aziz, T. (2023). Husbands’ Migration and the Left-behind Wives: The Psychosocial Impacts on Life Experiences of the Women of District Quetta, Pakistan. </a:t>
            </a:r>
            <a:r>
              <a:rPr lang="en-US" sz="2500" i="1" dirty="0" err="1">
                <a:latin typeface="Times New Roman" panose="02020603050405020304" pitchFamily="18" charset="0"/>
                <a:cs typeface="Times New Roman" panose="02020603050405020304" pitchFamily="18" charset="0"/>
              </a:rPr>
              <a:t>Qlantic</a:t>
            </a:r>
            <a:r>
              <a:rPr lang="en-US" sz="2500" i="1" dirty="0">
                <a:latin typeface="Times New Roman" panose="02020603050405020304" pitchFamily="18" charset="0"/>
                <a:cs typeface="Times New Roman" panose="02020603050405020304" pitchFamily="18" charset="0"/>
              </a:rPr>
              <a:t> Journal of Social Sciences and Humanities</a:t>
            </a:r>
            <a:r>
              <a:rPr lang="en-US" sz="2500" dirty="0">
                <a:latin typeface="Times New Roman" panose="02020603050405020304" pitchFamily="18" charset="0"/>
                <a:cs typeface="Times New Roman" panose="02020603050405020304" pitchFamily="18" charset="0"/>
              </a:rPr>
              <a:t>, 4(4), 203-210.</a:t>
            </a:r>
          </a:p>
          <a:p>
            <a:pPr marL="0" marR="0" indent="0" algn="just">
              <a:lnSpc>
                <a:spcPct val="115000"/>
              </a:lnSpc>
              <a:spcBef>
                <a:spcPts val="0"/>
              </a:spcBef>
              <a:spcAft>
                <a:spcPts val="0"/>
              </a:spcAft>
              <a:buNone/>
            </a:pPr>
            <a:endParaRPr lang="en-US" sz="2500" dirty="0">
              <a:latin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2500" dirty="0">
                <a:latin typeface="Times New Roman" panose="02020603050405020304" pitchFamily="18" charset="0"/>
                <a:cs typeface="Times New Roman" panose="02020603050405020304" pitchFamily="18" charset="0"/>
              </a:rPr>
              <a:t>Ghimire, D., Zhang, Y., &amp; Williams, N. (2021). Husbands’ migration: Increased burden on or more autonomy for wives left behind</a:t>
            </a:r>
            <a:r>
              <a:rPr lang="en-US" sz="2500" i="1" dirty="0">
                <a:latin typeface="Times New Roman" panose="02020603050405020304" pitchFamily="18" charset="0"/>
                <a:cs typeface="Times New Roman" panose="02020603050405020304" pitchFamily="18" charset="0"/>
              </a:rPr>
              <a:t>?. Journal of Ethnic and Migration studies</a:t>
            </a:r>
            <a:r>
              <a:rPr lang="en-US" sz="2500" dirty="0">
                <a:latin typeface="Times New Roman" panose="02020603050405020304" pitchFamily="18" charset="0"/>
                <a:cs typeface="Times New Roman" panose="02020603050405020304" pitchFamily="18" charset="0"/>
              </a:rPr>
              <a:t>, 47(1), 227-248.</a:t>
            </a:r>
          </a:p>
          <a:p>
            <a:pPr marL="0" marR="0" indent="0" algn="just">
              <a:lnSpc>
                <a:spcPct val="115000"/>
              </a:lnSpc>
              <a:spcBef>
                <a:spcPts val="0"/>
              </a:spcBef>
              <a:spcAft>
                <a:spcPts val="0"/>
              </a:spcAft>
              <a:buNone/>
            </a:pPr>
            <a:endParaRPr lang="en-US" sz="2500" dirty="0">
              <a:latin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2500" dirty="0">
                <a:latin typeface="Times New Roman" panose="02020603050405020304" pitchFamily="18" charset="0"/>
                <a:cs typeface="Times New Roman" panose="02020603050405020304" pitchFamily="18" charset="0"/>
              </a:rPr>
              <a:t>Uddin, M. (2018). Continuity and change in patriarchal structure: recent trends in rural Bangladesh. </a:t>
            </a:r>
            <a:r>
              <a:rPr lang="en-US" sz="2500" i="1" dirty="0">
                <a:latin typeface="Times New Roman" panose="02020603050405020304" pitchFamily="18" charset="0"/>
                <a:cs typeface="Times New Roman" panose="02020603050405020304" pitchFamily="18" charset="0"/>
              </a:rPr>
              <a:t>European Journal of Interdisciplinary Studies, </a:t>
            </a:r>
            <a:r>
              <a:rPr lang="en-US" sz="2500" dirty="0">
                <a:latin typeface="Times New Roman" panose="02020603050405020304" pitchFamily="18" charset="0"/>
                <a:cs typeface="Times New Roman" panose="02020603050405020304" pitchFamily="18" charset="0"/>
              </a:rPr>
              <a:t>7(1), 141-162.</a:t>
            </a:r>
          </a:p>
          <a:p>
            <a:pPr marL="0" marR="0" indent="0" algn="just">
              <a:lnSpc>
                <a:spcPct val="115000"/>
              </a:lnSpc>
              <a:spcBef>
                <a:spcPts val="0"/>
              </a:spcBef>
              <a:spcAft>
                <a:spcPts val="0"/>
              </a:spcAft>
              <a:buNone/>
            </a:pPr>
            <a:endParaRPr lang="en-US" sz="2500" dirty="0">
              <a:latin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2500" dirty="0">
                <a:latin typeface="Times New Roman" panose="02020603050405020304" pitchFamily="18" charset="0"/>
                <a:cs typeface="Times New Roman" panose="02020603050405020304" pitchFamily="18" charset="0"/>
              </a:rPr>
              <a:t>Uddin, M. (2022). 'Left-behind' Women of Migrant Men Rethinking Agency and Autonomy of Women in Rural Bangladesh. </a:t>
            </a:r>
            <a:r>
              <a:rPr lang="en-US" sz="2500" i="1" dirty="0">
                <a:latin typeface="Times New Roman" panose="02020603050405020304" pitchFamily="18" charset="0"/>
                <a:cs typeface="Times New Roman" panose="02020603050405020304" pitchFamily="18" charset="0"/>
              </a:rPr>
              <a:t>International Journal of Sociology and Anthropology</a:t>
            </a:r>
            <a:r>
              <a:rPr lang="en-US" sz="2500" dirty="0">
                <a:latin typeface="Times New Roman" panose="02020603050405020304" pitchFamily="18" charset="0"/>
                <a:cs typeface="Times New Roman" panose="02020603050405020304" pitchFamily="18" charset="0"/>
              </a:rPr>
              <a:t>, 14, 1-11. </a:t>
            </a:r>
          </a:p>
          <a:p>
            <a:pPr marL="0" marR="0" indent="0" algn="just">
              <a:lnSpc>
                <a:spcPct val="115000"/>
              </a:lnSpc>
              <a:spcBef>
                <a:spcPts val="0"/>
              </a:spcBef>
              <a:spcAft>
                <a:spcPts val="0"/>
              </a:spcAft>
              <a:buNone/>
            </a:pPr>
            <a:endParaRPr lang="en-US" sz="2500" dirty="0">
              <a:latin typeface="Times New Roman" panose="02020603050405020304" pitchFamily="18" charset="0"/>
              <a:cs typeface="Times New Roman" panose="02020603050405020304" pitchFamily="18" charset="0"/>
            </a:endParaRPr>
          </a:p>
          <a:p>
            <a:pPr marL="0" marR="0" indent="0" algn="just">
              <a:lnSpc>
                <a:spcPct val="115000"/>
              </a:lnSpc>
              <a:spcBef>
                <a:spcPts val="0"/>
              </a:spcBef>
              <a:spcAft>
                <a:spcPts val="0"/>
              </a:spcAft>
              <a:buNone/>
            </a:pPr>
            <a:r>
              <a:rPr lang="en-US" sz="2500" dirty="0">
                <a:latin typeface="Times New Roman" panose="02020603050405020304" pitchFamily="18" charset="0"/>
                <a:cs typeface="Times New Roman" panose="02020603050405020304" pitchFamily="18" charset="0"/>
              </a:rPr>
              <a:t>Fakir, A. M., &amp; Abedin, N. (2021). Empowered by absence: does male out-migration empower female household heads left behind?. </a:t>
            </a:r>
            <a:r>
              <a:rPr lang="en-US" sz="2500" i="1" dirty="0">
                <a:latin typeface="Times New Roman" panose="02020603050405020304" pitchFamily="18" charset="0"/>
                <a:cs typeface="Times New Roman" panose="02020603050405020304" pitchFamily="18" charset="0"/>
              </a:rPr>
              <a:t>Journal of International Migration and Integration</a:t>
            </a:r>
            <a:r>
              <a:rPr lang="en-US" sz="2500" dirty="0">
                <a:latin typeface="Times New Roman" panose="02020603050405020304" pitchFamily="18" charset="0"/>
                <a:cs typeface="Times New Roman" panose="02020603050405020304" pitchFamily="18" charset="0"/>
              </a:rPr>
              <a:t>, 22(2), 503-527.  </a:t>
            </a:r>
          </a:p>
          <a:p>
            <a:endParaRPr lang="en-US" dirty="0"/>
          </a:p>
        </p:txBody>
      </p:sp>
    </p:spTree>
    <p:extLst>
      <p:ext uri="{BB962C8B-B14F-4D97-AF65-F5344CB8AC3E}">
        <p14:creationId xmlns:p14="http://schemas.microsoft.com/office/powerpoint/2010/main" val="2766253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 name="Picture 10" descr="Lettering background design">
            <a:extLst>
              <a:ext uri="{FF2B5EF4-FFF2-40B4-BE49-F238E27FC236}">
                <a16:creationId xmlns:a16="http://schemas.microsoft.com/office/drawing/2014/main" id="{AD554816-716D-24EF-E98E-4A3FDEB4E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447675"/>
            <a:ext cx="5962650" cy="596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0513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Parallax</Template>
  <TotalTime>405</TotalTime>
  <Words>1420</Words>
  <Application>Microsoft Office PowerPoint</Application>
  <PresentationFormat>Widescreen</PresentationFormat>
  <Paragraphs>94</Paragraphs>
  <Slides>13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Corbel</vt:lpstr>
      <vt:lpstr>Times New Roman</vt:lpstr>
      <vt:lpstr>Parallax</vt:lpstr>
      <vt:lpstr>A Study on Understanding the Roles of Women for Husband Expatriation in Rural Bangladesh </vt:lpstr>
      <vt:lpstr>Introduction</vt:lpstr>
      <vt:lpstr>Literature Review</vt:lpstr>
      <vt:lpstr>Continue…..</vt:lpstr>
      <vt:lpstr>Research Gaps</vt:lpstr>
      <vt:lpstr>Operational Definitions</vt:lpstr>
      <vt:lpstr>Rationale of the study</vt:lpstr>
      <vt:lpstr>Objectives of the study</vt:lpstr>
      <vt:lpstr>Methodology</vt:lpstr>
      <vt:lpstr>Continue.…</vt:lpstr>
      <vt:lpstr>Ethical Considerations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on Understanding the Roles of Women for Husband Expatriation in Rural Bangladesh </dc:title>
  <dc:creator>Mohiuddin Rajib</dc:creator>
  <cp:lastModifiedBy>Mohiuddin Rajib</cp:lastModifiedBy>
  <cp:revision>9</cp:revision>
  <dcterms:created xsi:type="dcterms:W3CDTF">2024-11-29T10:24:57Z</dcterms:created>
  <dcterms:modified xsi:type="dcterms:W3CDTF">2024-12-02T17:41:05Z</dcterms:modified>
</cp:coreProperties>
</file>